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1320b1693d4c57" /><Relationship Type="http://schemas.openxmlformats.org/officeDocument/2006/relationships/extended-properties" Target="/docProps/app.xml" Id="R2070713b3e2e4997" /><Relationship Type="http://schemas.openxmlformats.org/officeDocument/2006/relationships/officeDocument" Target="/ppt/presentation.xml" Id="Rfa2f09dfde9c484c" /></Relationships>
</file>

<file path=ppt/presentation.xml><?xml version="1.0" encoding="utf-8"?>
<p:presentation xmlns:p="http://schemas.openxmlformats.org/presentationml/2006/main">
  <p:sldMasterIdLst>
    <p:sldMasterId xmlns:r="http://schemas.openxmlformats.org/officeDocument/2006/relationships" id="2147483648" r:id="Rc98ca3406e764a96"/>
  </p:sldMasterIdLst>
  <p:notesMasterIdLst>
    <p:notesMasterId xmlns:r="http://schemas.openxmlformats.org/officeDocument/2006/relationships" r:id="R8bfab01fe8b549b3"/>
  </p:notesMasterIdLst>
  <p:sldIdLst>
    <p:sldId xmlns:r="http://schemas.openxmlformats.org/officeDocument/2006/relationships" id="256" r:id="R262f3e7e2dd04481"/>
    <p:sldId xmlns:r="http://schemas.openxmlformats.org/officeDocument/2006/relationships" id="257" r:id="R9e42deab3256481b"/>
    <p:sldId xmlns:r="http://schemas.openxmlformats.org/officeDocument/2006/relationships" id="258" r:id="R5e77097f5f6e406e"/>
    <p:sldId xmlns:r="http://schemas.openxmlformats.org/officeDocument/2006/relationships" id="259" r:id="R6b44d11490b24447"/>
    <p:sldId xmlns:r="http://schemas.openxmlformats.org/officeDocument/2006/relationships" id="260" r:id="Rd70e1e257bda4ae1"/>
    <p:sldId xmlns:r="http://schemas.openxmlformats.org/officeDocument/2006/relationships" id="261" r:id="R3be51614cbac456e"/>
    <p:sldId xmlns:r="http://schemas.openxmlformats.org/officeDocument/2006/relationships" id="262" r:id="Rea71b7006c9546fe"/>
    <p:sldId xmlns:r="http://schemas.openxmlformats.org/officeDocument/2006/relationships" id="263" r:id="R198cbd9e27234043"/>
    <p:sldId xmlns:r="http://schemas.openxmlformats.org/officeDocument/2006/relationships" id="264" r:id="Ref29f576ec7741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40bf728574491b" /><Relationship Type="http://schemas.openxmlformats.org/officeDocument/2006/relationships/slideMaster" Target="/ppt/slideMasters/slideMaster1.xml" Id="Rc98ca3406e764a96" /><Relationship Type="http://schemas.openxmlformats.org/officeDocument/2006/relationships/notesMaster" Target="/ppt/notesMasters/notesMaster1.xml" Id="R8bfab01fe8b549b3" /><Relationship Type="http://schemas.openxmlformats.org/officeDocument/2006/relationships/presProps" Target="/ppt/presProps.xml" Id="R67764d68152649e1" /><Relationship Type="http://schemas.openxmlformats.org/officeDocument/2006/relationships/tableStyles" Target="/ppt/tableStyles.xml" Id="R3689fb154d394409" /><Relationship Type="http://schemas.openxmlformats.org/officeDocument/2006/relationships/slide" Target="/ppt/slides/slide1.xml" Id="R262f3e7e2dd04481" /><Relationship Type="http://schemas.openxmlformats.org/officeDocument/2006/relationships/slide" Target="/ppt/slides/slide2.xml" Id="R9e42deab3256481b" /><Relationship Type="http://schemas.openxmlformats.org/officeDocument/2006/relationships/slide" Target="/ppt/slides/slide3.xml" Id="R5e77097f5f6e406e" /><Relationship Type="http://schemas.openxmlformats.org/officeDocument/2006/relationships/slide" Target="/ppt/slides/slide4.xml" Id="R6b44d11490b24447" /><Relationship Type="http://schemas.openxmlformats.org/officeDocument/2006/relationships/slide" Target="/ppt/slides/slide5.xml" Id="Rd70e1e257bda4ae1" /><Relationship Type="http://schemas.openxmlformats.org/officeDocument/2006/relationships/slide" Target="/ppt/slides/slide6.xml" Id="R3be51614cbac456e" /><Relationship Type="http://schemas.openxmlformats.org/officeDocument/2006/relationships/slide" Target="/ppt/slides/slide7.xml" Id="Rea71b7006c9546fe" /><Relationship Type="http://schemas.openxmlformats.org/officeDocument/2006/relationships/slide" Target="/ppt/slides/slide8.xml" Id="R198cbd9e27234043" /><Relationship Type="http://schemas.openxmlformats.org/officeDocument/2006/relationships/slide" Target="/ppt/slides/slide9.xml" Id="Ref29f576ec7741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be653284f9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dd9a15790e4968" /><Relationship Type="http://schemas.openxmlformats.org/officeDocument/2006/relationships/notesMaster" Target="/ppt/notesMasters/notesMaster1.xml" Id="Rb89eb61b5aef4a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11fbcd4da14e8a" /><Relationship Type="http://schemas.openxmlformats.org/officeDocument/2006/relationships/notesMaster" Target="/ppt/notesMasters/notesMaster1.xml" Id="R0fe7a81e977949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f6473219f34bd8" /><Relationship Type="http://schemas.openxmlformats.org/officeDocument/2006/relationships/notesMaster" Target="/ppt/notesMasters/notesMaster1.xml" Id="R2a5b5bdc475948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5167c9261b46d3" /><Relationship Type="http://schemas.openxmlformats.org/officeDocument/2006/relationships/notesMaster" Target="/ppt/notesMasters/notesMaster1.xml" Id="Rb06eabf05f5840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92ad20122b4f80" /><Relationship Type="http://schemas.openxmlformats.org/officeDocument/2006/relationships/notesMaster" Target="/ppt/notesMasters/notesMaster1.xml" Id="Re1ea17c93dd549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a6e9ae1a974ab7" /><Relationship Type="http://schemas.openxmlformats.org/officeDocument/2006/relationships/notesMaster" Target="/ppt/notesMasters/notesMaster1.xml" Id="R9614b89dd7c644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1f776309494baa" /><Relationship Type="http://schemas.openxmlformats.org/officeDocument/2006/relationships/notesMaster" Target="/ppt/notesMasters/notesMaster1.xml" Id="R70594042ff9441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90c9912cc241ce" /><Relationship Type="http://schemas.openxmlformats.org/officeDocument/2006/relationships/notesMaster" Target="/ppt/notesMasters/notesMaster1.xml" Id="R7e9f127b18a447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e0a14f7dc14320" /><Relationship Type="http://schemas.openxmlformats.org/officeDocument/2006/relationships/notesMaster" Target="/ppt/notesMasters/notesMaster1.xml" Id="R3586b9ad1e0c45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KaamSet provides ready merchant AI teammates. The Paytm for Business positioning is a proposed ecosystem extension, not an official partnership or an existing in-app deployment. Artwork is an original generated illustration, not a photograph of a real merchant. Source: implemented ready-team catalogue and current KaamSet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qualitative, grounded in the jobs the product implements. No time-saving, conversion or revenue benchmark is claimed. The merchant remains responsible for approved facts and commercial exceptions.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src/foundation/workforce/kaamset-ready-teams.ts. Arjun prepares bills from catalogue facts and owner-reviewed quantities. Naina explains the immutable ledger and approved imported records. Tara publishes owner-approved catalogue data and captures customer-accepted orders with recorded stock reservation. Naman explains current recorded work. Owner-reported cash and credit remain distinct from provider-verified online payments.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verification on 5 October 2026: Milan completed DEMO-CAFE-2480 collection and stored a demo payment request; Milo quoted two sugar cases plus one tea case at approved prices for INR3180; Naina flagged already-paid but unsettled invoice DEMO-INV-0561 without sending a reminder. The screenshot is recorded verification from 3 October, not a live payment. Actual models and cloud processing operate; customer channel and payment transports are explicitly simulated. Paytm signature/status module exists but genuine Paytm payment verification requires merchant credentials.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ready-team catalogue. Instagram requires a professional account and applicable permissions. Exact publishing content/plan needs approval. Lakshya searches public original sources and supports reviewed Gmail batches of up to ten recipients with deduplication and paced sends, not guaranteed sales. Vijay uses approved business assets and returns a public KaamSet URL. Website specialists: Aditi assets, Dev design, Kavya copy, Nisha validation; these include both model stages and trusted validation. Verification: VIJAY-LIVE-VERIFICATION.json demonstrates Gemini 3.1 Pro HIGH, an approved asset and a published URL returning HTTP 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architecture: TypeScript/Node Foundation API and worker on Railway; PostgreSQL with scoped access; Redis/BullMQ durable jobs; React/TypeScript interface on Vercel; supported app actions through Composio; cloud WhatsApp Web session; Sarvam transcription; Cognee source-backed business memory. Graph-derived statements never replace canonical approved facts. Exact-source retrieval and isolated dataset names protect scope. Routine LLM default is Gemini 3.7 Flash; website creation uses Gemini 3.1 Pro HIGH. Actual Sarvam and Cognee proof: ACCESSIBLE-CLOUD-VERIFICATION.json and RECORD-COGNEE-VERIFICATION.json. Jobs may wait for permission, owner approval, provider availability or budget. Background scans still occur; no claim of event-only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actual-model receipt for job ff9bf09a-cd8e-4af8-a58f-4fbe2e319486, 5 October2026. Recorded inputTokens4763, outputTokens252; combined5015. This is one successful quote and excludes other workflow/model calls. No per-business total cost, percentage saving or achieved margin is claimed. Implementation controls: smaller-model routing, input/history/output caps, unchanged-source Cognee reuse, limited retrieval, stable job IDs, persisted stages, approved-photo templates and bounded guest allowance. Proposed INR900 delivery ceiling on the INR2999 plan is a pilot target,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is a proposal, not billing already implemented or validated willingness to pay. Prices are per business/month before taxes. Indicative scope and allowance amounts require pilot validation and billing implementation. Delivery-cost target &lt;=INR900 for INR2999 is unmeasured, roughly 30% of subscription price; it is not an achieved gross margin. Delivery cost includes models, tools, memory, hosting and support. Acquisition, R&amp;D and tax treatment remain separate. Start with five paid pilots, measure actual cost and retention. Optional assisted setup around INR999 once and a scoped website package around INR1999 once are hypotheses. Provider allowances are platform-wide, not a new free allowance per merchant. Sources: https://composio.dev/pricing , https://www.cognee.ai/pricing , https://www.sarvam.ai/api-pricing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Paytm ecosystem figures: official Q1FY2027 investor presentation, June2026 operational KPIs, p17. Registered merchants are ecosystem scale, not KaamSet customers, an addressable paid-market estimate or committed distribution. Source: https://paytm.com/document/ir/financial-results/fy2026-27/Paytm_Earnings-Presentation_Q1-FY-2027_INR.pdf . This is a proposed ecosystem fit, not an official partnership. Product evidence: TEAMMATE-REPAIRS-CLOUD-VERIFICATION.json actual model and public search produced five sourced prospects after browser closure; Naina reviewed private-document write/export; VIJAY-LIVE-VERIFICATION.json live website with approved asset; ACCESSIBLE-CLOUD-VERIFICATION.json Sarvam and Cognee. Latest release passed 2699 unit tests/107 PostgreSQL journeys and all four Instagram account reads. These checks sent no real external messages/posts and made no payments. Demo uses fictional prepared records; API payment verification still requires merchant credentials. Pilot impact metrics: owner time saved, enquiries resolved, accepted orders, verified collections and repeat usage; no measured ROI is claimed. Demo: https://kaamset-web.vercel.app/merchant-lab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29f3de28064e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b8df6a290d4aa2" /><Relationship Type="http://schemas.openxmlformats.org/officeDocument/2006/relationships/slideLayout" Target="/ppt/slideLayouts/slideLayout1.xml" Id="Rc6d72e914d334f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d72e914d334f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d6570c48c44476" /><Relationship Type="http://schemas.openxmlformats.org/officeDocument/2006/relationships/image" Target="/ppt/media/image.png" Id="Rc4ea88482730488b" /><Relationship Type="http://schemas.openxmlformats.org/officeDocument/2006/relationships/image" Target="/ppt/media/image2.png" Id="R1633d914cd784d48" /><Relationship Type="http://schemas.openxmlformats.org/officeDocument/2006/relationships/notesSlide" Target="/ppt/notesSlides/notesSlide1.xml" Id="R0aabc9f8a5814e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9c0c7ded3e499f" /><Relationship Type="http://schemas.openxmlformats.org/officeDocument/2006/relationships/image" Target="/ppt/media/image3.png" Id="R160a1d00047149b4" /><Relationship Type="http://schemas.openxmlformats.org/officeDocument/2006/relationships/notesSlide" Target="/ppt/notesSlides/notesSlide2.xml" Id="Rcde1895cf42d4d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b8235e21cc464f" /><Relationship Type="http://schemas.openxmlformats.org/officeDocument/2006/relationships/image" Target="/ppt/media/image4.png" Id="R9784decd580443fd" /><Relationship Type="http://schemas.openxmlformats.org/officeDocument/2006/relationships/image" Target="/ppt/media/image5.png" Id="Ra6c3463269c146bd" /><Relationship Type="http://schemas.openxmlformats.org/officeDocument/2006/relationships/image" Target="/ppt/media/image6.png" Id="R907ffbcf84364818" /><Relationship Type="http://schemas.openxmlformats.org/officeDocument/2006/relationships/image" Target="/ppt/media/image7.png" Id="R4fbc70369dba4c33" /><Relationship Type="http://schemas.openxmlformats.org/officeDocument/2006/relationships/image" Target="/ppt/media/image8.png" Id="R28a300c12fc042a8" /><Relationship Type="http://schemas.openxmlformats.org/officeDocument/2006/relationships/notesSlide" Target="/ppt/notesSlides/notesSlide3.xml" Id="R5320e1f0a5a74d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0932b7e636446b" /><Relationship Type="http://schemas.openxmlformats.org/officeDocument/2006/relationships/image" Target="/ppt/media/image9.png" Id="Rd5440778fd5540bf" /><Relationship Type="http://schemas.openxmlformats.org/officeDocument/2006/relationships/image" Target="/ppt/media/image10.png" Id="R924aa2f31a6a43ed" /><Relationship Type="http://schemas.openxmlformats.org/officeDocument/2006/relationships/notesSlide" Target="/ppt/notesSlides/notesSlide4.xml" Id="R80da1ee68f3041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6358986770481a" /><Relationship Type="http://schemas.openxmlformats.org/officeDocument/2006/relationships/image" Target="/ppt/media/image11.png" Id="Ra0607b99a9964daa" /><Relationship Type="http://schemas.openxmlformats.org/officeDocument/2006/relationships/image" Target="/ppt/media/image12.png" Id="Rc5c39c6ef4ea4bf1" /><Relationship Type="http://schemas.openxmlformats.org/officeDocument/2006/relationships/image" Target="/ppt/media/image13.png" Id="Raefcc97bdcd24aac" /><Relationship Type="http://schemas.openxmlformats.org/officeDocument/2006/relationships/image" Target="/ppt/media/image14.png" Id="R9d317ace2b9f40f3" /><Relationship Type="http://schemas.openxmlformats.org/officeDocument/2006/relationships/notesSlide" Target="/ppt/notesSlides/notesSlide5.xml" Id="R15eecffee5c942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14fb4710474417" /><Relationship Type="http://schemas.openxmlformats.org/officeDocument/2006/relationships/image" Target="/ppt/media/image15.png" Id="R19e4666ca5ba47fa" /><Relationship Type="http://schemas.openxmlformats.org/officeDocument/2006/relationships/notesSlide" Target="/ppt/notesSlides/notesSlide6.xml" Id="R4bb6ea83e9e04c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b8614ad26446ab" /><Relationship Type="http://schemas.openxmlformats.org/officeDocument/2006/relationships/image" Target="/ppt/media/image16.png" Id="Rac2f73b4b572431a" /><Relationship Type="http://schemas.openxmlformats.org/officeDocument/2006/relationships/notesSlide" Target="/ppt/notesSlides/notesSlide7.xml" Id="R5b699857155e47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a12480f1e34479" /><Relationship Type="http://schemas.openxmlformats.org/officeDocument/2006/relationships/image" Target="/ppt/media/image17.png" Id="Re3ce1f6b4f654150" /><Relationship Type="http://schemas.openxmlformats.org/officeDocument/2006/relationships/notesSlide" Target="/ppt/notesSlides/notesSlide8.xml" Id="R0903feaa963048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19220edc3d4627" /><Relationship Type="http://schemas.openxmlformats.org/officeDocument/2006/relationships/image" Target="/ppt/media/image18.png" Id="Re8b9c681e8564d06" /><Relationship Type="http://schemas.openxmlformats.org/officeDocument/2006/relationships/image" Target="/ppt/media/image19.png" Id="R378ffa51657740e8" /><Relationship Type="http://schemas.openxmlformats.org/officeDocument/2006/relationships/notesSlide" Target="/ppt/notesSlides/notesSlide9.xml" Id="R26df6d0064e7444a" /><Relationship Id="rIdKaamSetDemo" Type="http://schemas.openxmlformats.org/officeDocument/2006/relationships/hyperlink" Target="https://kaamset-web.vercel.app/merchant-lab" TargetMode="External"/></Relationships>
</file>

<file path=ppt/slides/slide1.xml><?xml version="1.0" encoding="utf-8"?>
<p:sld xmlns:p="http://schemas.openxmlformats.org/presentationml/2006/main">
  <p:cSld>
    <p:bg>
      <p:bgPr>
        <a:solidFill xmlns:a="http://schemas.openxmlformats.org/drawingml/2006/main">
          <a:srgbClr val="061B3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4ea88482730488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633d914cd784d48"/>
          <a:stretch xmlns:a="http://schemas.openxmlformats.org/drawingml/2006/main"/>
        </p:blipFill>
        <p:spPr>
          <a:xfrm xmlns:a="http://schemas.openxmlformats.org/drawingml/2006/main">
            <a:off x="666750" y="457200"/>
            <a:ext cx="457200" cy="457200"/>
          </a:xfrm>
          <a:prstGeom xmlns:a="http://schemas.openxmlformats.org/drawingml/2006/main" prst="rect">
            <a:avLst/>
          </a:prstGeom>
        </p:spPr>
      </p:pic>
      <p:sp>
        <p:nvSpPr>
          <p:cNvPr id="3" name="brand">
            <a:extLst xmlns:a="http://schemas.openxmlformats.org/drawingml/2006/main">
              <a:ext uri="{FF2B5EF4-FFF2-40B4-BE49-F238E27FC236}">
                <a16:creationId xmlns:a16="http://schemas.microsoft.com/office/drawing/2014/main" id="{E106EB14-4268-4907-A8AD-201518FB5D8B}"/>
              </a:ext>
            </a:extLst>
          </p:cNvPr>
          <p:cNvSpPr>
            <a:spLocks xmlns:a="http://schemas.openxmlformats.org/drawingml/2006/main" noGrp="1"/>
          </p:cNvSpPr>
          <p:nvPr/>
        </p:nvSpPr>
        <p:spPr>
          <a:xfrm xmlns:a="http://schemas.openxmlformats.org/drawingml/2006/main">
            <a:off x="1266825" y="5048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300" b="1">
                <a:solidFill>
                  <a:srgbClr val="FFFFFF"/>
                </a:solidFill>
                <a:latin typeface="Bahnschrift"/>
                <a:ea typeface="Bahnschrift"/>
                <a:cs typeface="Bahnschrift"/>
              </a:defRPr>
            </a:pPr>
            <a:r>
              <a:rPr sz="3300" b="1">
                <a:solidFill>
                  <a:srgbClr val="FFFFFF"/>
                </a:solidFill>
                <a:latin typeface="Bahnschrift"/>
                <a:ea typeface="Bahnschrift"/>
                <a:cs typeface="Bahnschrift"/>
              </a:rPr>
              <a:t>KaamSet</a:t>
            </a:r>
          </a:p>
        </p:txBody>
      </p:sp>
      <p:sp>
        <p:nvSpPr>
          <p:cNvPr id="4" name="cover-title">
            <a:extLst xmlns:a="http://schemas.openxmlformats.org/drawingml/2006/main">
              <a:ext uri="{FF2B5EF4-FFF2-40B4-BE49-F238E27FC236}">
                <a16:creationId xmlns:a16="http://schemas.microsoft.com/office/drawing/2014/main" id="{39E7E98B-ABC6-4001-9E6A-5C43651D3F99}"/>
              </a:ext>
            </a:extLst>
          </p:cNvPr>
          <p:cNvSpPr>
            <a:spLocks xmlns:a="http://schemas.openxmlformats.org/drawingml/2006/main" noGrp="1"/>
          </p:cNvSpPr>
          <p:nvPr/>
        </p:nvSpPr>
        <p:spPr>
          <a:xfrm xmlns:a="http://schemas.openxmlformats.org/drawingml/2006/main">
            <a:off x="666750" y="2085975"/>
            <a:ext cx="5381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950" b="1">
                <a:solidFill>
                  <a:srgbClr val="FFFFFF"/>
                </a:solidFill>
                <a:latin typeface="Bahnschrift"/>
                <a:ea typeface="Bahnschrift"/>
                <a:cs typeface="Bahnschrift"/>
              </a:defRPr>
            </a:pPr>
            <a:r>
              <a:rPr sz="4950" b="1">
                <a:solidFill>
                  <a:srgbClr val="FFFFFF"/>
                </a:solidFill>
                <a:latin typeface="Bahnschrift"/>
                <a:ea typeface="Bahnschrift"/>
                <a:cs typeface="Bahnschrift"/>
              </a:rPr>
              <a:t>Your dukaan’s</a:t>
            </a:r>
          </a:p>
          <a:p xmlns:a="http://schemas.openxmlformats.org/drawingml/2006/main">
            <a:pPr algn="l">
              <a:lnSpc>
                <a:spcPct val="108000"/>
              </a:lnSpc>
              <a:buNone/>
              <a:defRPr sz="4950" b="1">
                <a:solidFill>
                  <a:srgbClr val="FFFFFF"/>
                </a:solidFill>
                <a:latin typeface="Bahnschrift"/>
                <a:ea typeface="Bahnschrift"/>
                <a:cs typeface="Bahnschrift"/>
              </a:defRPr>
            </a:pPr>
            <a:r>
              <a:rPr sz="4950" b="1">
                <a:solidFill>
                  <a:srgbClr val="FFFFFF"/>
                </a:solidFill>
                <a:latin typeface="Bahnschrift"/>
                <a:ea typeface="Bahnschrift"/>
                <a:cs typeface="Bahnschrift"/>
              </a:rPr>
              <a:t>AI team</a:t>
            </a:r>
          </a:p>
        </p:txBody>
      </p:sp>
      <p:sp>
        <p:nvSpPr>
          <p:cNvPr id="5" name="cover-subtitle">
            <a:extLst xmlns:a="http://schemas.openxmlformats.org/drawingml/2006/main">
              <a:ext uri="{FF2B5EF4-FFF2-40B4-BE49-F238E27FC236}">
                <a16:creationId xmlns:a16="http://schemas.microsoft.com/office/drawing/2014/main" id="{084325D9-4266-447C-949D-05CC9DCE6B71}"/>
              </a:ext>
            </a:extLst>
          </p:cNvPr>
          <p:cNvSpPr>
            <a:spLocks xmlns:a="http://schemas.openxmlformats.org/drawingml/2006/main" noGrp="1"/>
          </p:cNvSpPr>
          <p:nvPr/>
        </p:nvSpPr>
        <p:spPr>
          <a:xfrm xmlns:a="http://schemas.openxmlformats.org/drawingml/2006/main">
            <a:off x="695325" y="4010025"/>
            <a:ext cx="5048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B8D5E8"/>
                </a:solidFill>
                <a:latin typeface="Bahnschrift"/>
                <a:ea typeface="Bahnschrift"/>
                <a:cs typeface="Bahnschrift"/>
              </a:defRPr>
            </a:pPr>
            <a:r>
              <a:rPr sz="2175" b="0">
                <a:solidFill>
                  <a:srgbClr val="B8D5E8"/>
                </a:solidFill>
                <a:latin typeface="Bahnschrift"/>
                <a:ea typeface="Bahnschrift"/>
                <a:cs typeface="Bahnschrift"/>
              </a:rPr>
              <a:t>Describe the business.</a:t>
            </a:r>
          </a:p>
          <a:p xmlns:a="http://schemas.openxmlformats.org/drawingml/2006/main">
            <a:pPr algn="l">
              <a:lnSpc>
                <a:spcPct val="108000"/>
              </a:lnSpc>
              <a:buNone/>
              <a:defRPr sz="2175" b="0">
                <a:solidFill>
                  <a:srgbClr val="B8D5E8"/>
                </a:solidFill>
                <a:latin typeface="Bahnschrift"/>
                <a:ea typeface="Bahnschrift"/>
                <a:cs typeface="Bahnschrift"/>
              </a:defRPr>
            </a:pPr>
            <a:r>
              <a:rPr sz="2175" b="0">
                <a:solidFill>
                  <a:srgbClr val="B8D5E8"/>
                </a:solidFill>
                <a:latin typeface="Bahnschrift"/>
                <a:ea typeface="Bahnschrift"/>
                <a:cs typeface="Bahnschrift"/>
              </a:rPr>
              <a:t>Start your approved cloud team.</a:t>
            </a:r>
          </a:p>
        </p:txBody>
      </p:sp>
      <p:sp>
        <p:nvSpPr>
          <p:cNvPr id="6" name="cover-position">
            <a:extLst xmlns:a="http://schemas.openxmlformats.org/drawingml/2006/main">
              <a:ext uri="{FF2B5EF4-FFF2-40B4-BE49-F238E27FC236}">
                <a16:creationId xmlns:a16="http://schemas.microsoft.com/office/drawing/2014/main" id="{14A4B349-F3A0-41EE-97AC-47D114351E2F}"/>
              </a:ext>
            </a:extLst>
          </p:cNvPr>
          <p:cNvSpPr>
            <a:spLocks xmlns:a="http://schemas.openxmlformats.org/drawingml/2006/main" noGrp="1"/>
          </p:cNvSpPr>
          <p:nvPr/>
        </p:nvSpPr>
        <p:spPr>
          <a:xfrm xmlns:a="http://schemas.openxmlformats.org/drawingml/2006/main">
            <a:off x="695325" y="54673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0BAF2"/>
                </a:solidFill>
                <a:latin typeface="Bahnschrift"/>
                <a:ea typeface="Bahnschrift"/>
                <a:cs typeface="Bahnschrift"/>
              </a:defRPr>
            </a:pPr>
            <a:r>
              <a:rPr sz="1875" b="1">
                <a:solidFill>
                  <a:srgbClr val="00BAF2"/>
                </a:solidFill>
                <a:latin typeface="Bahnschrift"/>
                <a:ea typeface="Bahnschrift"/>
                <a:cs typeface="Bahnschrift"/>
              </a:rPr>
              <a:t>Track 3 · Autonomous AI Teammates</a:t>
            </a:r>
          </a:p>
        </p:txBody>
      </p:sp>
      <p:sp>
        <p:nvSpPr>
          <p:cNvPr id="7" name="cover-disclosure">
            <a:extLst xmlns:a="http://schemas.openxmlformats.org/drawingml/2006/main">
              <a:ext uri="{FF2B5EF4-FFF2-40B4-BE49-F238E27FC236}">
                <a16:creationId xmlns:a16="http://schemas.microsoft.com/office/drawing/2014/main" id="{D32AC68C-3181-4394-A219-9C0B70DA1A92}"/>
              </a:ext>
            </a:extLst>
          </p:cNvPr>
          <p:cNvSpPr>
            <a:spLocks xmlns:a="http://schemas.openxmlformats.org/drawingml/2006/main" noGrp="1"/>
          </p:cNvSpPr>
          <p:nvPr/>
        </p:nvSpPr>
        <p:spPr>
          <a:xfrm xmlns:a="http://schemas.openxmlformats.org/drawingml/2006/main">
            <a:off x="695325" y="58959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B8D5E8"/>
                </a:solidFill>
                <a:latin typeface="Bahnschrift"/>
                <a:ea typeface="Bahnschrift"/>
                <a:cs typeface="Bahnschrift"/>
              </a:defRPr>
            </a:pPr>
            <a:r>
              <a:rPr sz="1500" b="0">
                <a:solidFill>
                  <a:srgbClr val="B8D5E8"/>
                </a:solidFill>
                <a:latin typeface="Bahnschrift"/>
                <a:ea typeface="Bahnschrift"/>
                <a:cs typeface="Bahnschrift"/>
              </a:rPr>
              <a:t>Proposed fit with Paytm for Business</a:t>
            </a:r>
          </a:p>
        </p:txBody>
      </p:sp>
    </p:spTree>
    <p:extLst>
      <p:ext uri="{BB962C8B-B14F-4D97-AF65-F5344CB8AC3E}">
        <p14:creationId xmlns:p14="http://schemas.microsoft.com/office/powerpoint/2010/main" val="1037703573"/>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60a1d00047149b4"/>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9CF4E8F2-326A-4602-8AF3-BA018E78473B}"/>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02E57"/>
                </a:solidFill>
                <a:latin typeface="Bahnschrift"/>
                <a:ea typeface="Bahnschrift"/>
                <a:cs typeface="Bahnschrift"/>
              </a:defRPr>
            </a:pPr>
            <a:r>
              <a:rPr sz="1725" b="1">
                <a:solidFill>
                  <a:srgbClr val="002E57"/>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FD950177-CE78-40F1-8819-4A36C3438003}"/>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Problem Statement</a:t>
            </a:r>
          </a:p>
        </p:txBody>
      </p:sp>
      <p:sp>
        <p:nvSpPr>
          <p:cNvPr id="4" name="slide-title">
            <a:extLst xmlns:a="http://schemas.openxmlformats.org/drawingml/2006/main">
              <a:ext uri="{FF2B5EF4-FFF2-40B4-BE49-F238E27FC236}">
                <a16:creationId xmlns:a16="http://schemas.microsoft.com/office/drawing/2014/main" id="{4E533456-0854-49AB-A57D-8E33572E3548}"/>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2E57"/>
                </a:solidFill>
                <a:latin typeface="Bahnschrift"/>
                <a:ea typeface="Bahnschrift"/>
                <a:cs typeface="Bahnschrift"/>
              </a:defRPr>
            </a:pPr>
            <a:r>
              <a:rPr sz="3450" b="1">
                <a:solidFill>
                  <a:srgbClr val="002E57"/>
                </a:solidFill>
                <a:latin typeface="Bahnschrift"/>
                <a:ea typeface="Bahnschrift"/>
                <a:cs typeface="Bahnschrift"/>
              </a:rPr>
              <a:t>Daily work competes with the counter</a:t>
            </a:r>
          </a:p>
        </p:txBody>
      </p:sp>
      <p:sp>
        <p:nvSpPr>
          <p:cNvPr id="5" name="page">
            <a:extLst xmlns:a="http://schemas.openxmlformats.org/drawingml/2006/main">
              <a:ext uri="{FF2B5EF4-FFF2-40B4-BE49-F238E27FC236}">
                <a16:creationId xmlns:a16="http://schemas.microsoft.com/office/drawing/2014/main" id="{2899BC31-F352-437E-AF86-63ECCC8B3278}"/>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02</a:t>
            </a:r>
          </a:p>
        </p:txBody>
      </p:sp>
      <p:sp>
        <p:nvSpPr>
          <p:cNvPr id="6" name="text">
            <a:extLst xmlns:a="http://schemas.openxmlformats.org/drawingml/2006/main">
              <a:ext uri="{FF2B5EF4-FFF2-40B4-BE49-F238E27FC236}">
                <a16:creationId xmlns:a16="http://schemas.microsoft.com/office/drawing/2014/main" id="{EB5FA66C-55AB-4761-9455-D402D2A344A2}"/>
              </a:ext>
            </a:extLst>
          </p:cNvPr>
          <p:cNvSpPr>
            <a:spLocks xmlns:a="http://schemas.openxmlformats.org/drawingml/2006/main" noGrp="1"/>
          </p:cNvSpPr>
          <p:nvPr/>
        </p:nvSpPr>
        <p:spPr>
          <a:xfrm xmlns:a="http://schemas.openxmlformats.org/drawingml/2006/main">
            <a:off x="666750" y="2419350"/>
            <a:ext cx="428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75" b="1">
                <a:solidFill>
                  <a:srgbClr val="002E57"/>
                </a:solidFill>
                <a:latin typeface="Bahnschrift"/>
                <a:ea typeface="Bahnschrift"/>
                <a:cs typeface="Bahnschrift"/>
              </a:defRPr>
            </a:pPr>
            <a:r>
              <a:rPr sz="4575" b="1">
                <a:solidFill>
                  <a:srgbClr val="002E57"/>
                </a:solidFill>
                <a:latin typeface="Bahnschrift"/>
                <a:ea typeface="Bahnschrift"/>
                <a:cs typeface="Bahnschrift"/>
              </a:rPr>
              <a:t>One owner</a:t>
            </a:r>
          </a:p>
        </p:txBody>
      </p:sp>
      <p:sp>
        <p:nvSpPr>
          <p:cNvPr id="7" name="text">
            <a:extLst xmlns:a="http://schemas.openxmlformats.org/drawingml/2006/main">
              <a:ext uri="{FF2B5EF4-FFF2-40B4-BE49-F238E27FC236}">
                <a16:creationId xmlns:a16="http://schemas.microsoft.com/office/drawing/2014/main" id="{28E763A6-D64E-48DD-A76E-30C9D4389864}"/>
              </a:ext>
            </a:extLst>
          </p:cNvPr>
          <p:cNvSpPr>
            <a:spLocks xmlns:a="http://schemas.openxmlformats.org/drawingml/2006/main" noGrp="1"/>
          </p:cNvSpPr>
          <p:nvPr/>
        </p:nvSpPr>
        <p:spPr>
          <a:xfrm xmlns:a="http://schemas.openxmlformats.org/drawingml/2006/main">
            <a:off x="695325" y="3286125"/>
            <a:ext cx="42291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526A7C"/>
                </a:solidFill>
                <a:latin typeface="Bahnschrift"/>
                <a:ea typeface="Bahnschrift"/>
                <a:cs typeface="Bahnschrift"/>
              </a:defRPr>
            </a:pPr>
            <a:r>
              <a:rPr sz="2625" b="0">
                <a:solidFill>
                  <a:srgbClr val="526A7C"/>
                </a:solidFill>
                <a:latin typeface="Bahnschrift"/>
                <a:ea typeface="Bahnschrift"/>
                <a:cs typeface="Bahnschrift"/>
              </a:rPr>
              <a:t>The shop stays busy.</a:t>
            </a:r>
          </a:p>
          <a:p xmlns:a="http://schemas.openxmlformats.org/drawingml/2006/main">
            <a:pPr algn="l">
              <a:lnSpc>
                <a:spcPct val="108000"/>
              </a:lnSpc>
              <a:buNone/>
              <a:defRPr sz="2625" b="0">
                <a:solidFill>
                  <a:srgbClr val="526A7C"/>
                </a:solidFill>
                <a:latin typeface="Bahnschrift"/>
                <a:ea typeface="Bahnschrift"/>
                <a:cs typeface="Bahnschrift"/>
              </a:defRPr>
            </a:pPr>
            <a:r>
              <a:rPr sz="2625" b="0">
                <a:solidFill>
                  <a:srgbClr val="526A7C"/>
                </a:solidFill>
                <a:latin typeface="Bahnschrift"/>
                <a:ea typeface="Bahnschrift"/>
                <a:cs typeface="Bahnschrift"/>
              </a:rPr>
              <a:t>The work keeps piling up.</a:t>
            </a:r>
          </a:p>
        </p:txBody>
      </p:sp>
      <p:sp>
        <p:nvSpPr>
          <p:cNvPr id="8" name="text">
            <a:extLst xmlns:a="http://schemas.openxmlformats.org/drawingml/2006/main">
              <a:ext uri="{FF2B5EF4-FFF2-40B4-BE49-F238E27FC236}">
                <a16:creationId xmlns:a16="http://schemas.microsoft.com/office/drawing/2014/main" id="{97FB1ABE-B197-4FD1-A95F-AB2BABAE1C89}"/>
              </a:ext>
            </a:extLst>
          </p:cNvPr>
          <p:cNvSpPr>
            <a:spLocks xmlns:a="http://schemas.openxmlformats.org/drawingml/2006/main" noGrp="1"/>
          </p:cNvSpPr>
          <p:nvPr/>
        </p:nvSpPr>
        <p:spPr>
          <a:xfrm xmlns:a="http://schemas.openxmlformats.org/drawingml/2006/main">
            <a:off x="6048375" y="2409825"/>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Counter</a:t>
            </a:r>
          </a:p>
        </p:txBody>
      </p:sp>
      <p:sp>
        <p:nvSpPr>
          <p:cNvPr id="9" name="text">
            <a:extLst xmlns:a="http://schemas.openxmlformats.org/drawingml/2006/main">
              <a:ext uri="{FF2B5EF4-FFF2-40B4-BE49-F238E27FC236}">
                <a16:creationId xmlns:a16="http://schemas.microsoft.com/office/drawing/2014/main" id="{354C3AEB-A79C-4CB9-B879-02D6BCE7C6CD}"/>
              </a:ext>
            </a:extLst>
          </p:cNvPr>
          <p:cNvSpPr>
            <a:spLocks xmlns:a="http://schemas.openxmlformats.org/drawingml/2006/main" noGrp="1"/>
          </p:cNvSpPr>
          <p:nvPr/>
        </p:nvSpPr>
        <p:spPr>
          <a:xfrm xmlns:a="http://schemas.openxmlformats.org/drawingml/2006/main">
            <a:off x="6048375" y="2752725"/>
            <a:ext cx="5467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Bills, prices and quantities</a:t>
            </a:r>
          </a:p>
        </p:txBody>
      </p:sp>
      <p:sp>
        <p:nvSpPr>
          <p:cNvPr id="10" name="content-divider">
            <a:extLst xmlns:a="http://schemas.openxmlformats.org/drawingml/2006/main">
              <a:ext uri="{FF2B5EF4-FFF2-40B4-BE49-F238E27FC236}">
                <a16:creationId xmlns:a16="http://schemas.microsoft.com/office/drawing/2014/main" id="{7254C22E-CB13-4CDA-9DFC-499C6FB0C7D3}"/>
              </a:ext>
            </a:extLst>
          </p:cNvPr>
          <p:cNvSpPr>
            <a:spLocks xmlns:a="http://schemas.openxmlformats.org/drawingml/2006/main" noGrp="1"/>
          </p:cNvSpPr>
          <p:nvPr/>
        </p:nvSpPr>
        <p:spPr>
          <a:xfrm xmlns:a="http://schemas.openxmlformats.org/drawingml/2006/main">
            <a:off x="6048375" y="3171825"/>
            <a:ext cx="5429250" cy="0"/>
          </a:xfrm>
          <a:prstGeom xmlns:a="http://schemas.openxmlformats.org/drawingml/2006/main" prst="line">
            <a:avLst/>
          </a:prstGeom>
          <a:noFill xmlns:a="http://schemas.openxmlformats.org/drawingml/2006/main"/>
          <a:ln xmlns:a="http://schemas.openxmlformats.org/drawingml/2006/main" w="9525">
            <a:solidFill>
              <a:srgbClr val="C9DFEA"/>
            </a:solidFill>
          </a:ln>
        </p:spPr>
      </p:sp>
      <p:sp>
        <p:nvSpPr>
          <p:cNvPr id="11" name="text">
            <a:extLst xmlns:a="http://schemas.openxmlformats.org/drawingml/2006/main">
              <a:ext uri="{FF2B5EF4-FFF2-40B4-BE49-F238E27FC236}">
                <a16:creationId xmlns:a16="http://schemas.microsoft.com/office/drawing/2014/main" id="{D7683C39-D099-4022-8E1D-601A449D8143}"/>
              </a:ext>
            </a:extLst>
          </p:cNvPr>
          <p:cNvSpPr>
            <a:spLocks xmlns:a="http://schemas.openxmlformats.org/drawingml/2006/main" noGrp="1"/>
          </p:cNvSpPr>
          <p:nvPr/>
        </p:nvSpPr>
        <p:spPr>
          <a:xfrm xmlns:a="http://schemas.openxmlformats.org/drawingml/2006/main">
            <a:off x="6048375" y="3276600"/>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Customers</a:t>
            </a:r>
          </a:p>
        </p:txBody>
      </p:sp>
      <p:sp>
        <p:nvSpPr>
          <p:cNvPr id="12" name="text">
            <a:extLst xmlns:a="http://schemas.openxmlformats.org/drawingml/2006/main">
              <a:ext uri="{FF2B5EF4-FFF2-40B4-BE49-F238E27FC236}">
                <a16:creationId xmlns:a16="http://schemas.microsoft.com/office/drawing/2014/main" id="{6DC0C3B7-4EAF-4710-9FA7-647AF6DDAFC7}"/>
              </a:ext>
            </a:extLst>
          </p:cNvPr>
          <p:cNvSpPr>
            <a:spLocks xmlns:a="http://schemas.openxmlformats.org/drawingml/2006/main" noGrp="1"/>
          </p:cNvSpPr>
          <p:nvPr/>
        </p:nvSpPr>
        <p:spPr>
          <a:xfrm xmlns:a="http://schemas.openxmlformats.org/drawingml/2006/main">
            <a:off x="6048375" y="3619500"/>
            <a:ext cx="5467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Enquiries, orders and bookings</a:t>
            </a:r>
          </a:p>
        </p:txBody>
      </p:sp>
      <p:sp>
        <p:nvSpPr>
          <p:cNvPr id="13" name="content-divider">
            <a:extLst xmlns:a="http://schemas.openxmlformats.org/drawingml/2006/main">
              <a:ext uri="{FF2B5EF4-FFF2-40B4-BE49-F238E27FC236}">
                <a16:creationId xmlns:a16="http://schemas.microsoft.com/office/drawing/2014/main" id="{61F9C17F-95EA-469D-8099-D5C2C02F27F5}"/>
              </a:ext>
            </a:extLst>
          </p:cNvPr>
          <p:cNvSpPr>
            <a:spLocks xmlns:a="http://schemas.openxmlformats.org/drawingml/2006/main" noGrp="1"/>
          </p:cNvSpPr>
          <p:nvPr/>
        </p:nvSpPr>
        <p:spPr>
          <a:xfrm xmlns:a="http://schemas.openxmlformats.org/drawingml/2006/main">
            <a:off x="6048375" y="4038600"/>
            <a:ext cx="5429250" cy="0"/>
          </a:xfrm>
          <a:prstGeom xmlns:a="http://schemas.openxmlformats.org/drawingml/2006/main" prst="line">
            <a:avLst/>
          </a:prstGeom>
          <a:noFill xmlns:a="http://schemas.openxmlformats.org/drawingml/2006/main"/>
          <a:ln xmlns:a="http://schemas.openxmlformats.org/drawingml/2006/main" w="9525">
            <a:solidFill>
              <a:srgbClr val="C9DFEA"/>
            </a:solidFill>
          </a:ln>
        </p:spPr>
      </p:sp>
      <p:sp>
        <p:nvSpPr>
          <p:cNvPr id="14" name="text">
            <a:extLst xmlns:a="http://schemas.openxmlformats.org/drawingml/2006/main">
              <a:ext uri="{FF2B5EF4-FFF2-40B4-BE49-F238E27FC236}">
                <a16:creationId xmlns:a16="http://schemas.microsoft.com/office/drawing/2014/main" id="{3DE6F831-2AE0-4947-ACEB-9E5B0F50866A}"/>
              </a:ext>
            </a:extLst>
          </p:cNvPr>
          <p:cNvSpPr>
            <a:spLocks xmlns:a="http://schemas.openxmlformats.org/drawingml/2006/main" noGrp="1"/>
          </p:cNvSpPr>
          <p:nvPr/>
        </p:nvSpPr>
        <p:spPr>
          <a:xfrm xmlns:a="http://schemas.openxmlformats.org/drawingml/2006/main">
            <a:off x="6048375" y="4143375"/>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Khata</a:t>
            </a:r>
          </a:p>
        </p:txBody>
      </p:sp>
      <p:sp>
        <p:nvSpPr>
          <p:cNvPr id="15" name="text">
            <a:extLst xmlns:a="http://schemas.openxmlformats.org/drawingml/2006/main">
              <a:ext uri="{FF2B5EF4-FFF2-40B4-BE49-F238E27FC236}">
                <a16:creationId xmlns:a16="http://schemas.microsoft.com/office/drawing/2014/main" id="{772A8730-04CC-4617-AE67-1165E74F600D}"/>
              </a:ext>
            </a:extLst>
          </p:cNvPr>
          <p:cNvSpPr>
            <a:spLocks xmlns:a="http://schemas.openxmlformats.org/drawingml/2006/main" noGrp="1"/>
          </p:cNvSpPr>
          <p:nvPr/>
        </p:nvSpPr>
        <p:spPr>
          <a:xfrm xmlns:a="http://schemas.openxmlformats.org/drawingml/2006/main">
            <a:off x="6048375" y="4486275"/>
            <a:ext cx="5467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Credit records and reminders</a:t>
            </a:r>
          </a:p>
        </p:txBody>
      </p:sp>
      <p:sp>
        <p:nvSpPr>
          <p:cNvPr id="16" name="content-divider">
            <a:extLst xmlns:a="http://schemas.openxmlformats.org/drawingml/2006/main">
              <a:ext uri="{FF2B5EF4-FFF2-40B4-BE49-F238E27FC236}">
                <a16:creationId xmlns:a16="http://schemas.microsoft.com/office/drawing/2014/main" id="{EFAE88E9-8B65-4A82-B61D-6F989154A747}"/>
              </a:ext>
            </a:extLst>
          </p:cNvPr>
          <p:cNvSpPr>
            <a:spLocks xmlns:a="http://schemas.openxmlformats.org/drawingml/2006/main" noGrp="1"/>
          </p:cNvSpPr>
          <p:nvPr/>
        </p:nvSpPr>
        <p:spPr>
          <a:xfrm xmlns:a="http://schemas.openxmlformats.org/drawingml/2006/main">
            <a:off x="6048375" y="4905375"/>
            <a:ext cx="5429250" cy="0"/>
          </a:xfrm>
          <a:prstGeom xmlns:a="http://schemas.openxmlformats.org/drawingml/2006/main" prst="line">
            <a:avLst/>
          </a:prstGeom>
          <a:noFill xmlns:a="http://schemas.openxmlformats.org/drawingml/2006/main"/>
          <a:ln xmlns:a="http://schemas.openxmlformats.org/drawingml/2006/main" w="9525">
            <a:solidFill>
              <a:srgbClr val="C9DFEA"/>
            </a:solidFill>
          </a:ln>
        </p:spPr>
      </p:sp>
      <p:sp>
        <p:nvSpPr>
          <p:cNvPr id="17" name="text">
            <a:extLst xmlns:a="http://schemas.openxmlformats.org/drawingml/2006/main">
              <a:ext uri="{FF2B5EF4-FFF2-40B4-BE49-F238E27FC236}">
                <a16:creationId xmlns:a16="http://schemas.microsoft.com/office/drawing/2014/main" id="{5B823871-717B-44D9-976E-88E3084BA664}"/>
              </a:ext>
            </a:extLst>
          </p:cNvPr>
          <p:cNvSpPr>
            <a:spLocks xmlns:a="http://schemas.openxmlformats.org/drawingml/2006/main" noGrp="1"/>
          </p:cNvSpPr>
          <p:nvPr/>
        </p:nvSpPr>
        <p:spPr>
          <a:xfrm xmlns:a="http://schemas.openxmlformats.org/drawingml/2006/main">
            <a:off x="6048375" y="5010150"/>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Online</a:t>
            </a:r>
          </a:p>
        </p:txBody>
      </p:sp>
      <p:sp>
        <p:nvSpPr>
          <p:cNvPr id="18" name="text">
            <a:extLst xmlns:a="http://schemas.openxmlformats.org/drawingml/2006/main">
              <a:ext uri="{FF2B5EF4-FFF2-40B4-BE49-F238E27FC236}">
                <a16:creationId xmlns:a16="http://schemas.microsoft.com/office/drawing/2014/main" id="{8F8C9341-7A0A-4309-8933-831B16BAE2A4}"/>
              </a:ext>
            </a:extLst>
          </p:cNvPr>
          <p:cNvSpPr>
            <a:spLocks xmlns:a="http://schemas.openxmlformats.org/drawingml/2006/main" noGrp="1"/>
          </p:cNvSpPr>
          <p:nvPr/>
        </p:nvSpPr>
        <p:spPr>
          <a:xfrm xmlns:a="http://schemas.openxmlformats.org/drawingml/2006/main">
            <a:off x="6048375" y="5353050"/>
            <a:ext cx="54673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Posts, messages and follow-ups</a:t>
            </a:r>
          </a:p>
        </p:txBody>
      </p:sp>
      <p:sp>
        <p:nvSpPr>
          <p:cNvPr id="19" name="text">
            <a:extLst xmlns:a="http://schemas.openxmlformats.org/drawingml/2006/main">
              <a:ext uri="{FF2B5EF4-FFF2-40B4-BE49-F238E27FC236}">
                <a16:creationId xmlns:a16="http://schemas.microsoft.com/office/drawing/2014/main" id="{1FBCAD51-1452-44CE-AF6E-2F0783F6C490}"/>
              </a:ext>
            </a:extLst>
          </p:cNvPr>
          <p:cNvSpPr>
            <a:spLocks xmlns:a="http://schemas.openxmlformats.org/drawingml/2006/main" noGrp="1"/>
          </p:cNvSpPr>
          <p:nvPr/>
        </p:nvSpPr>
        <p:spPr>
          <a:xfrm xmlns:a="http://schemas.openxmlformats.org/drawingml/2006/main">
            <a:off x="695325" y="5410200"/>
            <a:ext cx="4638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877CF"/>
                </a:solidFill>
                <a:latin typeface="Bahnschrift"/>
                <a:ea typeface="Bahnschrift"/>
                <a:cs typeface="Bahnschrift"/>
              </a:defRPr>
            </a:pPr>
            <a:r>
              <a:rPr sz="2175" b="1">
                <a:solidFill>
                  <a:srgbClr val="0877CF"/>
                </a:solidFill>
                <a:latin typeface="Bahnschrift"/>
                <a:ea typeface="Bahnschrift"/>
                <a:cs typeface="Bahnschrift"/>
              </a:rPr>
              <a:t>Ready teammates give each recurring job an owner.</a:t>
            </a:r>
          </a:p>
        </p:txBody>
      </p:sp>
    </p:spTree>
    <p:extLst>
      <p:ext uri="{BB962C8B-B14F-4D97-AF65-F5344CB8AC3E}">
        <p14:creationId xmlns:p14="http://schemas.microsoft.com/office/powerpoint/2010/main" val="1612468538"/>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784decd580443fd"/>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21D885F7-2B63-49C5-A8F9-D6B6D4B8AD37}"/>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02E57"/>
                </a:solidFill>
                <a:latin typeface="Bahnschrift"/>
                <a:ea typeface="Bahnschrift"/>
                <a:cs typeface="Bahnschrift"/>
              </a:defRPr>
            </a:pPr>
            <a:r>
              <a:rPr sz="1725" b="1">
                <a:solidFill>
                  <a:srgbClr val="002E57"/>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2BE0A729-7E4E-4B47-B3FA-83F13E391F3A}"/>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Proposed Solution</a:t>
            </a:r>
          </a:p>
        </p:txBody>
      </p:sp>
      <p:sp>
        <p:nvSpPr>
          <p:cNvPr id="4" name="slide-title">
            <a:extLst xmlns:a="http://schemas.openxmlformats.org/drawingml/2006/main">
              <a:ext uri="{FF2B5EF4-FFF2-40B4-BE49-F238E27FC236}">
                <a16:creationId xmlns:a16="http://schemas.microsoft.com/office/drawing/2014/main" id="{ABABA6A6-0770-4833-8026-013AC910F986}"/>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2E57"/>
                </a:solidFill>
                <a:latin typeface="Bahnschrift"/>
                <a:ea typeface="Bahnschrift"/>
                <a:cs typeface="Bahnschrift"/>
              </a:defRPr>
            </a:pPr>
            <a:r>
              <a:rPr sz="3450" b="1">
                <a:solidFill>
                  <a:srgbClr val="002E57"/>
                </a:solidFill>
                <a:latin typeface="Bahnschrift"/>
                <a:ea typeface="Bahnschrift"/>
                <a:cs typeface="Bahnschrift"/>
              </a:rPr>
              <a:t>Meet the merchant team</a:t>
            </a:r>
          </a:p>
        </p:txBody>
      </p:sp>
      <p:sp>
        <p:nvSpPr>
          <p:cNvPr id="5" name="page">
            <a:extLst xmlns:a="http://schemas.openxmlformats.org/drawingml/2006/main">
              <a:ext uri="{FF2B5EF4-FFF2-40B4-BE49-F238E27FC236}">
                <a16:creationId xmlns:a16="http://schemas.microsoft.com/office/drawing/2014/main" id="{63BD5D1D-45A3-48E3-99AB-0D7EC408F615}"/>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03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6c3463269c146bd"/>
          <a:stretch xmlns:a="http://schemas.openxmlformats.org/drawingml/2006/main"/>
        </p:blipFill>
        <p:spPr>
          <a:xfrm xmlns:a="http://schemas.openxmlformats.org/drawingml/2006/main">
            <a:off x="1000125" y="2205038"/>
            <a:ext cx="1657350" cy="16573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37C75918-DDDE-4AEE-B8EC-2FEB53A8C75E}"/>
              </a:ext>
            </a:extLst>
          </p:cNvPr>
          <p:cNvSpPr>
            <a:spLocks xmlns:a="http://schemas.openxmlformats.org/drawingml/2006/main" noGrp="1"/>
          </p:cNvSpPr>
          <p:nvPr/>
        </p:nvSpPr>
        <p:spPr>
          <a:xfrm xmlns:a="http://schemas.openxmlformats.org/drawingml/2006/main">
            <a:off x="666750" y="4076700"/>
            <a:ext cx="2495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02E57"/>
                </a:solidFill>
                <a:latin typeface="Bahnschrift"/>
                <a:ea typeface="Bahnschrift"/>
                <a:cs typeface="Bahnschrift"/>
              </a:defRPr>
            </a:pPr>
            <a:r>
              <a:rPr sz="3000" b="1">
                <a:solidFill>
                  <a:srgbClr val="002E57"/>
                </a:solidFill>
                <a:latin typeface="Bahnschrift"/>
                <a:ea typeface="Bahnschrift"/>
                <a:cs typeface="Bahnschrift"/>
              </a:rPr>
              <a:t>Arjun</a:t>
            </a:r>
          </a:p>
        </p:txBody>
      </p:sp>
      <p:sp>
        <p:nvSpPr>
          <p:cNvPr id="8" name="text">
            <a:extLst xmlns:a="http://schemas.openxmlformats.org/drawingml/2006/main">
              <a:ext uri="{FF2B5EF4-FFF2-40B4-BE49-F238E27FC236}">
                <a16:creationId xmlns:a16="http://schemas.microsoft.com/office/drawing/2014/main" id="{D587EB74-CB70-4FE6-B1E8-AAF3DD44290A}"/>
              </a:ext>
            </a:extLst>
          </p:cNvPr>
          <p:cNvSpPr>
            <a:spLocks xmlns:a="http://schemas.openxmlformats.org/drawingml/2006/main" noGrp="1"/>
          </p:cNvSpPr>
          <p:nvPr/>
        </p:nvSpPr>
        <p:spPr>
          <a:xfrm xmlns:a="http://schemas.openxmlformats.org/drawingml/2006/main">
            <a:off x="666750" y="460057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Counter Team</a:t>
            </a:r>
          </a:p>
        </p:txBody>
      </p:sp>
      <p:sp>
        <p:nvSpPr>
          <p:cNvPr id="9" name="text">
            <a:extLst xmlns:a="http://schemas.openxmlformats.org/drawingml/2006/main">
              <a:ext uri="{FF2B5EF4-FFF2-40B4-BE49-F238E27FC236}">
                <a16:creationId xmlns:a16="http://schemas.microsoft.com/office/drawing/2014/main" id="{F3F638AF-C818-49E9-905B-DAE275348B55}"/>
              </a:ext>
            </a:extLst>
          </p:cNvPr>
          <p:cNvSpPr>
            <a:spLocks xmlns:a="http://schemas.openxmlformats.org/drawingml/2006/main" noGrp="1"/>
          </p:cNvSpPr>
          <p:nvPr/>
        </p:nvSpPr>
        <p:spPr>
          <a:xfrm xmlns:a="http://schemas.openxmlformats.org/drawingml/2006/main">
            <a:off x="666750" y="50577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Reviewed bills from</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lists, photos or voice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07ffbcf84364818"/>
          <a:stretch xmlns:a="http://schemas.openxmlformats.org/drawingml/2006/main"/>
        </p:blipFill>
        <p:spPr>
          <a:xfrm xmlns:a="http://schemas.openxmlformats.org/drawingml/2006/main">
            <a:off x="3781425" y="2205038"/>
            <a:ext cx="1657350" cy="16573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C14468E-CAC6-4824-A7D0-7A6E295F4F34}"/>
              </a:ext>
            </a:extLst>
          </p:cNvPr>
          <p:cNvSpPr>
            <a:spLocks xmlns:a="http://schemas.openxmlformats.org/drawingml/2006/main" noGrp="1"/>
          </p:cNvSpPr>
          <p:nvPr/>
        </p:nvSpPr>
        <p:spPr>
          <a:xfrm xmlns:a="http://schemas.openxmlformats.org/drawingml/2006/main">
            <a:off x="3448050" y="4076700"/>
            <a:ext cx="2495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02E57"/>
                </a:solidFill>
                <a:latin typeface="Bahnschrift"/>
                <a:ea typeface="Bahnschrift"/>
                <a:cs typeface="Bahnschrift"/>
              </a:defRPr>
            </a:pPr>
            <a:r>
              <a:rPr sz="3000" b="1">
                <a:solidFill>
                  <a:srgbClr val="002E57"/>
                </a:solidFill>
                <a:latin typeface="Bahnschrift"/>
                <a:ea typeface="Bahnschrift"/>
                <a:cs typeface="Bahnschrift"/>
              </a:rPr>
              <a:t>Naina</a:t>
            </a:r>
          </a:p>
        </p:txBody>
      </p:sp>
      <p:sp>
        <p:nvSpPr>
          <p:cNvPr id="12" name="text">
            <a:extLst xmlns:a="http://schemas.openxmlformats.org/drawingml/2006/main">
              <a:ext uri="{FF2B5EF4-FFF2-40B4-BE49-F238E27FC236}">
                <a16:creationId xmlns:a16="http://schemas.microsoft.com/office/drawing/2014/main" id="{6968ABFA-B6B7-497E-ACEC-0662EBE16DDF}"/>
              </a:ext>
            </a:extLst>
          </p:cNvPr>
          <p:cNvSpPr>
            <a:spLocks xmlns:a="http://schemas.openxmlformats.org/drawingml/2006/main" noGrp="1"/>
          </p:cNvSpPr>
          <p:nvPr/>
        </p:nvSpPr>
        <p:spPr>
          <a:xfrm xmlns:a="http://schemas.openxmlformats.org/drawingml/2006/main">
            <a:off x="3448050" y="460057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Khata Team</a:t>
            </a:r>
          </a:p>
        </p:txBody>
      </p:sp>
      <p:sp>
        <p:nvSpPr>
          <p:cNvPr id="13" name="text">
            <a:extLst xmlns:a="http://schemas.openxmlformats.org/drawingml/2006/main">
              <a:ext uri="{FF2B5EF4-FFF2-40B4-BE49-F238E27FC236}">
                <a16:creationId xmlns:a16="http://schemas.microsoft.com/office/drawing/2014/main" id="{A2723761-60CD-4EE7-BBD6-951BAAD814AC}"/>
              </a:ext>
            </a:extLst>
          </p:cNvPr>
          <p:cNvSpPr>
            <a:spLocks xmlns:a="http://schemas.openxmlformats.org/drawingml/2006/main" noGrp="1"/>
          </p:cNvSpPr>
          <p:nvPr/>
        </p:nvSpPr>
        <p:spPr>
          <a:xfrm xmlns:a="http://schemas.openxmlformats.org/drawingml/2006/main">
            <a:off x="3448050" y="50577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Credit explanations</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and reminder plans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fbc70369dba4c33"/>
          <a:stretch xmlns:a="http://schemas.openxmlformats.org/drawingml/2006/main"/>
        </p:blipFill>
        <p:spPr>
          <a:xfrm xmlns:a="http://schemas.openxmlformats.org/drawingml/2006/main">
            <a:off x="6562725" y="2205038"/>
            <a:ext cx="1657350" cy="165735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2B86ACA3-EBA4-43D3-8A4B-0924F16B0191}"/>
              </a:ext>
            </a:extLst>
          </p:cNvPr>
          <p:cNvSpPr>
            <a:spLocks xmlns:a="http://schemas.openxmlformats.org/drawingml/2006/main" noGrp="1"/>
          </p:cNvSpPr>
          <p:nvPr/>
        </p:nvSpPr>
        <p:spPr>
          <a:xfrm xmlns:a="http://schemas.openxmlformats.org/drawingml/2006/main">
            <a:off x="6229350" y="4076700"/>
            <a:ext cx="2495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02E57"/>
                </a:solidFill>
                <a:latin typeface="Bahnschrift"/>
                <a:ea typeface="Bahnschrift"/>
                <a:cs typeface="Bahnschrift"/>
              </a:defRPr>
            </a:pPr>
            <a:r>
              <a:rPr sz="3000" b="1">
                <a:solidFill>
                  <a:srgbClr val="002E57"/>
                </a:solidFill>
                <a:latin typeface="Bahnschrift"/>
                <a:ea typeface="Bahnschrift"/>
                <a:cs typeface="Bahnschrift"/>
              </a:rPr>
              <a:t>Tara</a:t>
            </a:r>
          </a:p>
        </p:txBody>
      </p:sp>
      <p:sp>
        <p:nvSpPr>
          <p:cNvPr id="16" name="text">
            <a:extLst xmlns:a="http://schemas.openxmlformats.org/drawingml/2006/main">
              <a:ext uri="{FF2B5EF4-FFF2-40B4-BE49-F238E27FC236}">
                <a16:creationId xmlns:a16="http://schemas.microsoft.com/office/drawing/2014/main" id="{8AB70D58-827B-4D0F-A965-A71ED9272845}"/>
              </a:ext>
            </a:extLst>
          </p:cNvPr>
          <p:cNvSpPr>
            <a:spLocks xmlns:a="http://schemas.openxmlformats.org/drawingml/2006/main" noGrp="1"/>
          </p:cNvSpPr>
          <p:nvPr/>
        </p:nvSpPr>
        <p:spPr>
          <a:xfrm xmlns:a="http://schemas.openxmlformats.org/drawingml/2006/main">
            <a:off x="6229350" y="460057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Online Dukaan</a:t>
            </a:r>
          </a:p>
        </p:txBody>
      </p:sp>
      <p:sp>
        <p:nvSpPr>
          <p:cNvPr id="17" name="text">
            <a:extLst xmlns:a="http://schemas.openxmlformats.org/drawingml/2006/main">
              <a:ext uri="{FF2B5EF4-FFF2-40B4-BE49-F238E27FC236}">
                <a16:creationId xmlns:a16="http://schemas.microsoft.com/office/drawing/2014/main" id="{86F1D6F1-10C1-4ADD-83FD-235EAD88F65E}"/>
              </a:ext>
            </a:extLst>
          </p:cNvPr>
          <p:cNvSpPr>
            <a:spLocks xmlns:a="http://schemas.openxmlformats.org/drawingml/2006/main" noGrp="1"/>
          </p:cNvSpPr>
          <p:nvPr/>
        </p:nvSpPr>
        <p:spPr>
          <a:xfrm xmlns:a="http://schemas.openxmlformats.org/drawingml/2006/main">
            <a:off x="6229350" y="50577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 catalogue storefront</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and accepted orders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8a300c12fc042a8"/>
          <a:stretch xmlns:a="http://schemas.openxmlformats.org/drawingml/2006/main"/>
        </p:blipFill>
        <p:spPr>
          <a:xfrm xmlns:a="http://schemas.openxmlformats.org/drawingml/2006/main">
            <a:off x="9344025" y="2205038"/>
            <a:ext cx="1657350" cy="165735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8EA2E041-D603-4A8B-89DD-162C281B242E}"/>
              </a:ext>
            </a:extLst>
          </p:cNvPr>
          <p:cNvSpPr>
            <a:spLocks xmlns:a="http://schemas.openxmlformats.org/drawingml/2006/main" noGrp="1"/>
          </p:cNvSpPr>
          <p:nvPr/>
        </p:nvSpPr>
        <p:spPr>
          <a:xfrm xmlns:a="http://schemas.openxmlformats.org/drawingml/2006/main">
            <a:off x="9010650" y="4076700"/>
            <a:ext cx="2495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002E57"/>
                </a:solidFill>
                <a:latin typeface="Bahnschrift"/>
                <a:ea typeface="Bahnschrift"/>
                <a:cs typeface="Bahnschrift"/>
              </a:defRPr>
            </a:pPr>
            <a:r>
              <a:rPr sz="3000" b="1">
                <a:solidFill>
                  <a:srgbClr val="002E57"/>
                </a:solidFill>
                <a:latin typeface="Bahnschrift"/>
                <a:ea typeface="Bahnschrift"/>
                <a:cs typeface="Bahnschrift"/>
              </a:rPr>
              <a:t>Naman</a:t>
            </a:r>
          </a:p>
        </p:txBody>
      </p:sp>
      <p:sp>
        <p:nvSpPr>
          <p:cNvPr id="20" name="text">
            <a:extLst xmlns:a="http://schemas.openxmlformats.org/drawingml/2006/main">
              <a:ext uri="{FF2B5EF4-FFF2-40B4-BE49-F238E27FC236}">
                <a16:creationId xmlns:a16="http://schemas.microsoft.com/office/drawing/2014/main" id="{9CB55793-B98C-4E2D-9E0B-9A1D1920729F}"/>
              </a:ext>
            </a:extLst>
          </p:cNvPr>
          <p:cNvSpPr>
            <a:spLocks xmlns:a="http://schemas.openxmlformats.org/drawingml/2006/main" noGrp="1"/>
          </p:cNvSpPr>
          <p:nvPr/>
        </p:nvSpPr>
        <p:spPr>
          <a:xfrm xmlns:a="http://schemas.openxmlformats.org/drawingml/2006/main">
            <a:off x="9010650" y="460057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Business Insights</a:t>
            </a:r>
          </a:p>
        </p:txBody>
      </p:sp>
      <p:sp>
        <p:nvSpPr>
          <p:cNvPr id="21" name="text">
            <a:extLst xmlns:a="http://schemas.openxmlformats.org/drawingml/2006/main">
              <a:ext uri="{FF2B5EF4-FFF2-40B4-BE49-F238E27FC236}">
                <a16:creationId xmlns:a16="http://schemas.microsoft.com/office/drawing/2014/main" id="{564C7B01-F3DF-45A5-AA61-5A927310083E}"/>
              </a:ext>
            </a:extLst>
          </p:cNvPr>
          <p:cNvSpPr>
            <a:spLocks xmlns:a="http://schemas.openxmlformats.org/drawingml/2006/main" noGrp="1"/>
          </p:cNvSpPr>
          <p:nvPr/>
        </p:nvSpPr>
        <p:spPr>
          <a:xfrm xmlns:a="http://schemas.openxmlformats.org/drawingml/2006/main">
            <a:off x="9010650" y="5057775"/>
            <a:ext cx="2514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Collections, pending work</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and owner summaries</a:t>
            </a:r>
          </a:p>
        </p:txBody>
      </p:sp>
      <p:sp>
        <p:nvSpPr>
          <p:cNvPr id="22" name="text">
            <a:extLst xmlns:a="http://schemas.openxmlformats.org/drawingml/2006/main">
              <a:ext uri="{FF2B5EF4-FFF2-40B4-BE49-F238E27FC236}">
                <a16:creationId xmlns:a16="http://schemas.microsoft.com/office/drawing/2014/main" id="{A7047BEC-6ADB-4C68-8245-8688EBE78361}"/>
              </a:ext>
            </a:extLst>
          </p:cNvPr>
          <p:cNvSpPr>
            <a:spLocks xmlns:a="http://schemas.openxmlformats.org/drawingml/2006/main" noGrp="1"/>
          </p:cNvSpPr>
          <p:nvPr/>
        </p:nvSpPr>
        <p:spPr>
          <a:xfrm xmlns:a="http://schemas.openxmlformats.org/drawingml/2006/main">
            <a:off x="666750" y="61626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002E57"/>
                </a:solidFill>
                <a:latin typeface="Bahnschrift"/>
                <a:ea typeface="Bahnschrift"/>
                <a:cs typeface="Bahnschrift"/>
              </a:defRPr>
            </a:pPr>
            <a:r>
              <a:rPr sz="1650" b="0">
                <a:solidFill>
                  <a:srgbClr val="002E57"/>
                </a:solidFill>
                <a:latin typeface="Bahnschrift"/>
                <a:ea typeface="Bahnschrift"/>
                <a:cs typeface="Bahnschrift"/>
              </a:rPr>
              <a:t>Describe the business once. Review the facts. Start the relevant teammates.</a:t>
            </a:r>
          </a:p>
        </p:txBody>
      </p:sp>
    </p:spTree>
    <p:extLst>
      <p:ext uri="{BB962C8B-B14F-4D97-AF65-F5344CB8AC3E}">
        <p14:creationId xmlns:p14="http://schemas.microsoft.com/office/powerpoint/2010/main" val="1196194100"/>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061B35"/>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5440778fd5540bf"/>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08DE4E75-4328-4BAE-A323-7A674DD3F33A}"/>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FFFFFF"/>
                </a:solidFill>
                <a:latin typeface="Bahnschrift"/>
                <a:ea typeface="Bahnschrift"/>
                <a:cs typeface="Bahnschrift"/>
              </a:defRPr>
            </a:pPr>
            <a:r>
              <a:rPr sz="1725" b="1">
                <a:solidFill>
                  <a:srgbClr val="FFFFFF"/>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CD3EA62E-FD95-4C8B-9998-EBD1BAB0280F}"/>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Merchant Demonstration</a:t>
            </a:r>
          </a:p>
        </p:txBody>
      </p:sp>
      <p:sp>
        <p:nvSpPr>
          <p:cNvPr id="4" name="slide-title">
            <a:extLst xmlns:a="http://schemas.openxmlformats.org/drawingml/2006/main">
              <a:ext uri="{FF2B5EF4-FFF2-40B4-BE49-F238E27FC236}">
                <a16:creationId xmlns:a16="http://schemas.microsoft.com/office/drawing/2014/main" id="{6632B944-51E1-4100-B1C5-C9FE8E3F3565}"/>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An unpaid invoice becomes useful completed work</a:t>
            </a:r>
          </a:p>
        </p:txBody>
      </p:sp>
      <p:sp>
        <p:nvSpPr>
          <p:cNvPr id="5" name="page">
            <a:extLst xmlns:a="http://schemas.openxmlformats.org/drawingml/2006/main">
              <a:ext uri="{FF2B5EF4-FFF2-40B4-BE49-F238E27FC236}">
                <a16:creationId xmlns:a16="http://schemas.microsoft.com/office/drawing/2014/main" id="{253C86B5-2249-4FAE-9667-81361AA130F3}"/>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04</a:t>
            </a:r>
          </a:p>
        </p:txBody>
      </p:sp>
      <p:sp>
        <p:nvSpPr>
          <p:cNvPr id="6" name="text">
            <a:extLst xmlns:a="http://schemas.openxmlformats.org/drawingml/2006/main">
              <a:ext uri="{FF2B5EF4-FFF2-40B4-BE49-F238E27FC236}">
                <a16:creationId xmlns:a16="http://schemas.microsoft.com/office/drawing/2014/main" id="{5C98663F-7FA4-4EE8-805A-CC2ECD88A974}"/>
              </a:ext>
            </a:extLst>
          </p:cNvPr>
          <p:cNvSpPr>
            <a:spLocks xmlns:a="http://schemas.openxmlformats.org/drawingml/2006/main" noGrp="1"/>
          </p:cNvSpPr>
          <p:nvPr/>
        </p:nvSpPr>
        <p:spPr>
          <a:xfrm xmlns:a="http://schemas.openxmlformats.org/drawingml/2006/main">
            <a:off x="666750" y="2171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B8D5E8"/>
                </a:solidFill>
                <a:latin typeface="Bahnschrift"/>
                <a:ea typeface="Bahnschrift"/>
                <a:cs typeface="Bahnschrift"/>
              </a:defRPr>
            </a:pPr>
            <a:r>
              <a:rPr sz="2100" b="0">
                <a:solidFill>
                  <a:srgbClr val="B8D5E8"/>
                </a:solidFill>
                <a:latin typeface="Bahnschrift"/>
                <a:ea typeface="Bahnschrift"/>
                <a:cs typeface="Bahnschrift"/>
              </a:rPr>
              <a:t>Milan reads the accepted invoice. The owner can inspect every action.</a:t>
            </a:r>
          </a:p>
        </p:txBody>
      </p:sp>
      <p:sp>
        <p:nvSpPr>
          <p:cNvPr id="7" name="diagram-Accepted invoice&#10;₹2,480 outstanding">
            <a:extLst xmlns:a="http://schemas.openxmlformats.org/drawingml/2006/main">
              <a:ext uri="{FF2B5EF4-FFF2-40B4-BE49-F238E27FC236}">
                <a16:creationId xmlns:a16="http://schemas.microsoft.com/office/drawing/2014/main" id="{EB5970EB-97A5-4B13-B467-13E8F774B900}"/>
              </a:ext>
            </a:extLst>
          </p:cNvPr>
          <p:cNvSpPr>
            <a:spLocks xmlns:a="http://schemas.openxmlformats.org/drawingml/2006/main" noGrp="1"/>
          </p:cNvSpPr>
          <p:nvPr/>
        </p:nvSpPr>
        <p:spPr>
          <a:xfrm xmlns:a="http://schemas.openxmlformats.org/drawingml/2006/main">
            <a:off x="666750" y="2943225"/>
            <a:ext cx="2400300" cy="962025"/>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Accepted invoice</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₹2,480 outstanding</a:t>
            </a:r>
          </a:p>
        </p:txBody>
      </p:sp>
      <p:sp>
        <p:nvSpPr>
          <p:cNvPr id="8" name="diagram-Actual model&#10;+ approved sources">
            <a:extLst xmlns:a="http://schemas.openxmlformats.org/drawingml/2006/main">
              <a:ext uri="{FF2B5EF4-FFF2-40B4-BE49-F238E27FC236}">
                <a16:creationId xmlns:a16="http://schemas.microsoft.com/office/drawing/2014/main" id="{934B8222-7C40-446B-A0B0-3BA1A40D16F7}"/>
              </a:ext>
            </a:extLst>
          </p:cNvPr>
          <p:cNvSpPr>
            <a:spLocks xmlns:a="http://schemas.openxmlformats.org/drawingml/2006/main" noGrp="1"/>
          </p:cNvSpPr>
          <p:nvPr/>
        </p:nvSpPr>
        <p:spPr>
          <a:xfrm xmlns:a="http://schemas.openxmlformats.org/drawingml/2006/main">
            <a:off x="3476625" y="2943225"/>
            <a:ext cx="2400300" cy="962025"/>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Actual model</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 approved sources</a:t>
            </a:r>
          </a:p>
        </p:txBody>
      </p:sp>
      <p:sp>
        <p:nvSpPr>
          <p:cNvPr id="9" name="diagram-Demo request&#10;+ customer payment">
            <a:extLst xmlns:a="http://schemas.openxmlformats.org/drawingml/2006/main">
              <a:ext uri="{FF2B5EF4-FFF2-40B4-BE49-F238E27FC236}">
                <a16:creationId xmlns:a16="http://schemas.microsoft.com/office/drawing/2014/main" id="{1A1493C8-B7A7-45B1-96EE-BFA0DA04F84A}"/>
              </a:ext>
            </a:extLst>
          </p:cNvPr>
          <p:cNvSpPr>
            <a:spLocks xmlns:a="http://schemas.openxmlformats.org/drawingml/2006/main" noGrp="1"/>
          </p:cNvSpPr>
          <p:nvPr/>
        </p:nvSpPr>
        <p:spPr>
          <a:xfrm xmlns:a="http://schemas.openxmlformats.org/drawingml/2006/main">
            <a:off x="6286500" y="2943225"/>
            <a:ext cx="2400300" cy="962025"/>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Demo request</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 customer payment</a:t>
            </a:r>
          </a:p>
        </p:txBody>
      </p:sp>
      <p:sp>
        <p:nvSpPr>
          <p:cNvPr id="10" name="diagram-Saved result&#10;+ linked records">
            <a:extLst xmlns:a="http://schemas.openxmlformats.org/drawingml/2006/main">
              <a:ext uri="{FF2B5EF4-FFF2-40B4-BE49-F238E27FC236}">
                <a16:creationId xmlns:a16="http://schemas.microsoft.com/office/drawing/2014/main" id="{A900A499-AE15-4F76-9F23-1F30B8F690D1}"/>
              </a:ext>
            </a:extLst>
          </p:cNvPr>
          <p:cNvSpPr>
            <a:spLocks xmlns:a="http://schemas.openxmlformats.org/drawingml/2006/main" noGrp="1"/>
          </p:cNvSpPr>
          <p:nvPr/>
        </p:nvSpPr>
        <p:spPr>
          <a:xfrm xmlns:a="http://schemas.openxmlformats.org/drawingml/2006/main">
            <a:off x="9096375" y="2943225"/>
            <a:ext cx="2400300" cy="962025"/>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Saved result</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 linked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067050" y="3424238"/>
            <a:ext cx="409575" cy="0"/>
          </a:xfrm>
          <a:prstGeom xmlns:a="http://schemas.openxmlformats.org/drawingml/2006/main" prst="straightConnector1">
            <a:avLst/>
          </a:prstGeom>
          <a:ln xmlns:a="http://schemas.openxmlformats.org/drawingml/2006/main" w="19050">
            <a:solidFill>
              <a:srgbClr val="00BAF2"/>
            </a:solidFill>
            <a:tailEnd type="triangle"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5876925" y="3424238"/>
            <a:ext cx="409575" cy="0"/>
          </a:xfrm>
          <a:prstGeom xmlns:a="http://schemas.openxmlformats.org/drawingml/2006/main" prst="straightConnector1">
            <a:avLst/>
          </a:prstGeom>
          <a:ln xmlns:a="http://schemas.openxmlformats.org/drawingml/2006/main" w="19050">
            <a:solidFill>
              <a:srgbClr val="00BAF2"/>
            </a:solidFill>
            <a:tailEnd type="triangle" w="sm" len="sm"/>
          </a:ln>
        </p:spPr>
      </p:cxnSp>
      <p:cxnSp>
        <p:nvCxnSpPr>
          <p:cNvPr id="30" name=""/>
          <p:cNvCxnSpPr>
            <a:stCxn xmlns:a="http://schemas.openxmlformats.org/drawingml/2006/main" id="9" idx="3"/>
            <a:endCxn xmlns:a="http://schemas.openxmlformats.org/drawingml/2006/main" id="10" idx="1"/>
          </p:cNvCxnSpPr>
          <p:nvPr/>
        </p:nvCxnSpPr>
        <p:spPr>
          <a:xfrm xmlns:a="http://schemas.openxmlformats.org/drawingml/2006/main">
            <a:off x="8686800" y="3424238"/>
            <a:ext cx="409575" cy="0"/>
          </a:xfrm>
          <a:prstGeom xmlns:a="http://schemas.openxmlformats.org/drawingml/2006/main" prst="straightConnector1">
            <a:avLst/>
          </a:prstGeom>
          <a:ln xmlns:a="http://schemas.openxmlformats.org/drawingml/2006/main" w="19050">
            <a:solidFill>
              <a:srgbClr val="00BAF2"/>
            </a:solidFill>
            <a:tailEnd type="triangle" w="sm" len="sm"/>
          </a:ln>
        </p:spPr>
      </p:cxn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24aa2f31a6a43ed"/>
          <a:srcRect xmlns:a="http://schemas.openxmlformats.org/drawingml/2006/main" l="0" t="36433" r="0" b="36433"/>
          <a:stretch xmlns:a="http://schemas.openxmlformats.org/drawingml/2006/main">
            <a:fillRect l="0" t="0" r="0" b="0"/>
          </a:stretch>
        </p:blipFill>
        <p:spPr>
          <a:xfrm xmlns:a="http://schemas.openxmlformats.org/drawingml/2006/main">
            <a:off x="666750" y="4286250"/>
            <a:ext cx="5429250" cy="180975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44661D0-CE48-48A4-922C-6B052FF45F5C}"/>
              </a:ext>
            </a:extLst>
          </p:cNvPr>
          <p:cNvSpPr>
            <a:spLocks xmlns:a="http://schemas.openxmlformats.org/drawingml/2006/main" noGrp="1"/>
          </p:cNvSpPr>
          <p:nvPr/>
        </p:nvSpPr>
        <p:spPr>
          <a:xfrm xmlns:a="http://schemas.openxmlformats.org/drawingml/2006/main">
            <a:off x="6667500" y="4371975"/>
            <a:ext cx="4838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00BAF2"/>
                </a:solidFill>
                <a:latin typeface="Bahnschrift"/>
                <a:ea typeface="Bahnschrift"/>
                <a:cs typeface="Bahnschrift"/>
              </a:defRPr>
            </a:pPr>
            <a:r>
              <a:rPr sz="2250" b="1">
                <a:solidFill>
                  <a:srgbClr val="00BAF2"/>
                </a:solidFill>
                <a:latin typeface="Bahnschrift"/>
                <a:ea typeface="Bahnschrift"/>
                <a:cs typeface="Bahnschrift"/>
              </a:rPr>
              <a:t>Actual AI. Real cloud workers.</a:t>
            </a:r>
          </a:p>
        </p:txBody>
      </p:sp>
      <p:sp>
        <p:nvSpPr>
          <p:cNvPr id="16" name="text">
            <a:extLst xmlns:a="http://schemas.openxmlformats.org/drawingml/2006/main">
              <a:ext uri="{FF2B5EF4-FFF2-40B4-BE49-F238E27FC236}">
                <a16:creationId xmlns:a16="http://schemas.microsoft.com/office/drawing/2014/main" id="{4C6896F6-1B7A-407D-8F30-1E1FE6D4CF36}"/>
              </a:ext>
            </a:extLst>
          </p:cNvPr>
          <p:cNvSpPr>
            <a:spLocks xmlns:a="http://schemas.openxmlformats.org/drawingml/2006/main" noGrp="1"/>
          </p:cNvSpPr>
          <p:nvPr/>
        </p:nvSpPr>
        <p:spPr>
          <a:xfrm xmlns:a="http://schemas.openxmlformats.org/drawingml/2006/main">
            <a:off x="6667500" y="4981575"/>
            <a:ext cx="4838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B8D5E8"/>
                </a:solidFill>
                <a:latin typeface="Bahnschrift"/>
                <a:ea typeface="Bahnschrift"/>
                <a:cs typeface="Bahnschrift"/>
              </a:defRPr>
            </a:pPr>
            <a:r>
              <a:rPr sz="1950" b="0">
                <a:solidFill>
                  <a:srgbClr val="B8D5E8"/>
                </a:solidFill>
                <a:latin typeface="Bahnschrift"/>
                <a:ea typeface="Bahnschrift"/>
                <a:cs typeface="Bahnschrift"/>
              </a:rPr>
              <a:t>Source invoice, usage and saved receipts.</a:t>
            </a:r>
          </a:p>
          <a:p xmlns:a="http://schemas.openxmlformats.org/drawingml/2006/main">
            <a:pPr algn="l">
              <a:lnSpc>
                <a:spcPct val="108000"/>
              </a:lnSpc>
              <a:buNone/>
              <a:defRPr sz="1950" b="0">
                <a:solidFill>
                  <a:srgbClr val="B8D5E8"/>
                </a:solidFill>
                <a:latin typeface="Bahnschrift"/>
                <a:ea typeface="Bahnschrift"/>
                <a:cs typeface="Bahnschrift"/>
              </a:defRPr>
            </a:pPr>
            <a:r>
              <a:rPr sz="1950" b="0">
                <a:solidFill>
                  <a:srgbClr val="B8D5E8"/>
                </a:solidFill>
                <a:latin typeface="Bahnschrift"/>
                <a:ea typeface="Bahnschrift"/>
                <a:cs typeface="Bahnschrift"/>
              </a:rPr>
              <a:t>Naina flags an unsettled payout.</a:t>
            </a:r>
          </a:p>
          <a:p xmlns:a="http://schemas.openxmlformats.org/drawingml/2006/main">
            <a:pPr algn="l">
              <a:lnSpc>
                <a:spcPct val="108000"/>
              </a:lnSpc>
              <a:buNone/>
              <a:defRPr sz="1950" b="0">
                <a:solidFill>
                  <a:srgbClr val="B8D5E8"/>
                </a:solidFill>
                <a:latin typeface="Bahnschrift"/>
                <a:ea typeface="Bahnschrift"/>
                <a:cs typeface="Bahnschrift"/>
              </a:defRPr>
            </a:pPr>
            <a:r>
              <a:rPr sz="1950" b="0">
                <a:solidFill>
                  <a:srgbClr val="B8D5E8"/>
                </a:solidFill>
                <a:latin typeface="Bahnschrift"/>
                <a:ea typeface="Bahnschrift"/>
                <a:cs typeface="Bahnschrift"/>
              </a:rPr>
              <a:t>The owner reviews the result.</a:t>
            </a:r>
          </a:p>
        </p:txBody>
      </p:sp>
      <p:sp>
        <p:nvSpPr>
          <p:cNvPr id="17" name="text">
            <a:extLst xmlns:a="http://schemas.openxmlformats.org/drawingml/2006/main">
              <a:ext uri="{FF2B5EF4-FFF2-40B4-BE49-F238E27FC236}">
                <a16:creationId xmlns:a16="http://schemas.microsoft.com/office/drawing/2014/main" id="{659CD560-5A8D-4399-9180-EC23E2DDB059}"/>
              </a:ext>
            </a:extLst>
          </p:cNvPr>
          <p:cNvSpPr>
            <a:spLocks xmlns:a="http://schemas.openxmlformats.org/drawingml/2006/main" noGrp="1"/>
          </p:cNvSpPr>
          <p:nvPr/>
        </p:nvSpPr>
        <p:spPr>
          <a:xfrm xmlns:a="http://schemas.openxmlformats.org/drawingml/2006/main">
            <a:off x="666750" y="62198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B8D5E8"/>
                </a:solidFill>
                <a:latin typeface="Bahnschrift"/>
                <a:ea typeface="Bahnschrift"/>
                <a:cs typeface="Bahnschrift"/>
              </a:defRPr>
            </a:pPr>
            <a:r>
              <a:rPr sz="1500" b="0">
                <a:solidFill>
                  <a:srgbClr val="B8D5E8"/>
                </a:solidFill>
                <a:latin typeface="Bahnschrift"/>
                <a:ea typeface="Bahnschrift"/>
                <a:cs typeface="Bahnschrift"/>
              </a:rPr>
              <a:t>Fictional merchant. Simulated customer channels and payments. No money moves.</a:t>
            </a:r>
          </a:p>
        </p:txBody>
      </p:sp>
    </p:spTree>
    <p:extLst>
      <p:ext uri="{BB962C8B-B14F-4D97-AF65-F5344CB8AC3E}">
        <p14:creationId xmlns:p14="http://schemas.microsoft.com/office/powerpoint/2010/main" val="1504600317"/>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0607b99a9964daa"/>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DA0C1C02-8F01-4A69-8911-9A1725A4B31E}"/>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02E57"/>
                </a:solidFill>
                <a:latin typeface="Bahnschrift"/>
                <a:ea typeface="Bahnschrift"/>
                <a:cs typeface="Bahnschrift"/>
              </a:defRPr>
            </a:pPr>
            <a:r>
              <a:rPr sz="1725" b="1">
                <a:solidFill>
                  <a:srgbClr val="002E57"/>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360EAA0D-8278-44D1-A1F1-42419FC21B25}"/>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Other Ready Teammates</a:t>
            </a:r>
          </a:p>
        </p:txBody>
      </p:sp>
      <p:sp>
        <p:nvSpPr>
          <p:cNvPr id="4" name="slide-title">
            <a:extLst xmlns:a="http://schemas.openxmlformats.org/drawingml/2006/main">
              <a:ext uri="{FF2B5EF4-FFF2-40B4-BE49-F238E27FC236}">
                <a16:creationId xmlns:a16="http://schemas.microsoft.com/office/drawing/2014/main" id="{13A6C39B-B1DA-420F-AFC2-1224E25070A0}"/>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2E57"/>
                </a:solidFill>
                <a:latin typeface="Bahnschrift"/>
                <a:ea typeface="Bahnschrift"/>
                <a:cs typeface="Bahnschrift"/>
              </a:defRPr>
            </a:pPr>
            <a:r>
              <a:rPr sz="3450" b="1">
                <a:solidFill>
                  <a:srgbClr val="002E57"/>
                </a:solidFill>
                <a:latin typeface="Bahnschrift"/>
                <a:ea typeface="Bahnschrift"/>
                <a:cs typeface="Bahnschrift"/>
              </a:rPr>
              <a:t>The same team reaches beyond the counter</a:t>
            </a:r>
          </a:p>
        </p:txBody>
      </p:sp>
      <p:sp>
        <p:nvSpPr>
          <p:cNvPr id="5" name="page">
            <a:extLst xmlns:a="http://schemas.openxmlformats.org/drawingml/2006/main">
              <a:ext uri="{FF2B5EF4-FFF2-40B4-BE49-F238E27FC236}">
                <a16:creationId xmlns:a16="http://schemas.microsoft.com/office/drawing/2014/main" id="{B9F99E34-9213-49FA-A43B-42E3F273E59F}"/>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05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5c39c6ef4ea4bf1"/>
          <a:stretch xmlns:a="http://schemas.openxmlformats.org/drawingml/2006/main"/>
        </p:blipFill>
        <p:spPr>
          <a:xfrm xmlns:a="http://schemas.openxmlformats.org/drawingml/2006/main">
            <a:off x="1295400" y="2181225"/>
            <a:ext cx="1619250" cy="161925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AFB05267-55B7-4691-B0C4-79644386F60D}"/>
              </a:ext>
            </a:extLst>
          </p:cNvPr>
          <p:cNvSpPr>
            <a:spLocks xmlns:a="http://schemas.openxmlformats.org/drawingml/2006/main" noGrp="1"/>
          </p:cNvSpPr>
          <p:nvPr/>
        </p:nvSpPr>
        <p:spPr>
          <a:xfrm xmlns:a="http://schemas.openxmlformats.org/drawingml/2006/main">
            <a:off x="666750" y="3981450"/>
            <a:ext cx="3448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25" b="1">
                <a:solidFill>
                  <a:srgbClr val="002E57"/>
                </a:solidFill>
                <a:latin typeface="Bahnschrift"/>
                <a:ea typeface="Bahnschrift"/>
                <a:cs typeface="Bahnschrift"/>
              </a:defRPr>
            </a:pPr>
            <a:r>
              <a:rPr sz="2925" b="1">
                <a:solidFill>
                  <a:srgbClr val="002E57"/>
                </a:solidFill>
                <a:latin typeface="Bahnschrift"/>
                <a:ea typeface="Bahnschrift"/>
                <a:cs typeface="Bahnschrift"/>
              </a:rPr>
              <a:t>Riya</a:t>
            </a:r>
          </a:p>
        </p:txBody>
      </p:sp>
      <p:sp>
        <p:nvSpPr>
          <p:cNvPr id="8" name="text">
            <a:extLst xmlns:a="http://schemas.openxmlformats.org/drawingml/2006/main">
              <a:ext uri="{FF2B5EF4-FFF2-40B4-BE49-F238E27FC236}">
                <a16:creationId xmlns:a16="http://schemas.microsoft.com/office/drawing/2014/main" id="{2B1E87E5-90AB-405B-A683-9872C7109FE3}"/>
              </a:ext>
            </a:extLst>
          </p:cNvPr>
          <p:cNvSpPr>
            <a:spLocks xmlns:a="http://schemas.openxmlformats.org/drawingml/2006/main" noGrp="1"/>
          </p:cNvSpPr>
          <p:nvPr/>
        </p:nvSpPr>
        <p:spPr>
          <a:xfrm xmlns:a="http://schemas.openxmlformats.org/drawingml/2006/main">
            <a:off x="666750" y="44862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Marketing Team</a:t>
            </a:r>
          </a:p>
        </p:txBody>
      </p:sp>
      <p:sp>
        <p:nvSpPr>
          <p:cNvPr id="9" name="text">
            <a:extLst xmlns:a="http://schemas.openxmlformats.org/drawingml/2006/main">
              <a:ext uri="{FF2B5EF4-FFF2-40B4-BE49-F238E27FC236}">
                <a16:creationId xmlns:a16="http://schemas.microsoft.com/office/drawing/2014/main" id="{C08948AB-E2A1-418E-A923-4A2516AE3DEF}"/>
              </a:ext>
            </a:extLst>
          </p:cNvPr>
          <p:cNvSpPr>
            <a:spLocks xmlns:a="http://schemas.openxmlformats.org/drawingml/2006/main" noGrp="1"/>
          </p:cNvSpPr>
          <p:nvPr/>
        </p:nvSpPr>
        <p:spPr>
          <a:xfrm xmlns:a="http://schemas.openxmlformats.org/drawingml/2006/main">
            <a:off x="666750" y="491490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Approved Instagram posts,</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eligible comments and DMs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efcc97bdcd24aac"/>
          <a:stretch xmlns:a="http://schemas.openxmlformats.org/drawingml/2006/main"/>
        </p:blipFill>
        <p:spPr>
          <a:xfrm xmlns:a="http://schemas.openxmlformats.org/drawingml/2006/main">
            <a:off x="5076825" y="2181225"/>
            <a:ext cx="1619250" cy="1619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B5179DB-9650-42F7-96A6-C5F0D53C0E17}"/>
              </a:ext>
            </a:extLst>
          </p:cNvPr>
          <p:cNvSpPr>
            <a:spLocks xmlns:a="http://schemas.openxmlformats.org/drawingml/2006/main" noGrp="1"/>
          </p:cNvSpPr>
          <p:nvPr/>
        </p:nvSpPr>
        <p:spPr>
          <a:xfrm xmlns:a="http://schemas.openxmlformats.org/drawingml/2006/main">
            <a:off x="4448175" y="3981450"/>
            <a:ext cx="3448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25" b="1">
                <a:solidFill>
                  <a:srgbClr val="002E57"/>
                </a:solidFill>
                <a:latin typeface="Bahnschrift"/>
                <a:ea typeface="Bahnschrift"/>
                <a:cs typeface="Bahnschrift"/>
              </a:defRPr>
            </a:pPr>
            <a:r>
              <a:rPr sz="2925" b="1">
                <a:solidFill>
                  <a:srgbClr val="002E57"/>
                </a:solidFill>
                <a:latin typeface="Bahnschrift"/>
                <a:ea typeface="Bahnschrift"/>
                <a:cs typeface="Bahnschrift"/>
              </a:rPr>
              <a:t>Vijay</a:t>
            </a:r>
          </a:p>
        </p:txBody>
      </p:sp>
      <p:sp>
        <p:nvSpPr>
          <p:cNvPr id="12" name="text">
            <a:extLst xmlns:a="http://schemas.openxmlformats.org/drawingml/2006/main">
              <a:ext uri="{FF2B5EF4-FFF2-40B4-BE49-F238E27FC236}">
                <a16:creationId xmlns:a16="http://schemas.microsoft.com/office/drawing/2014/main" id="{56EF7477-C517-4F2B-81BC-553EDBF7091E}"/>
              </a:ext>
            </a:extLst>
          </p:cNvPr>
          <p:cNvSpPr>
            <a:spLocks xmlns:a="http://schemas.openxmlformats.org/drawingml/2006/main" noGrp="1"/>
          </p:cNvSpPr>
          <p:nvPr/>
        </p:nvSpPr>
        <p:spPr>
          <a:xfrm xmlns:a="http://schemas.openxmlformats.org/drawingml/2006/main">
            <a:off x="4448175" y="44862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Website Team</a:t>
            </a:r>
          </a:p>
        </p:txBody>
      </p:sp>
      <p:sp>
        <p:nvSpPr>
          <p:cNvPr id="13" name="text">
            <a:extLst xmlns:a="http://schemas.openxmlformats.org/drawingml/2006/main">
              <a:ext uri="{FF2B5EF4-FFF2-40B4-BE49-F238E27FC236}">
                <a16:creationId xmlns:a16="http://schemas.microsoft.com/office/drawing/2014/main" id="{7C81D4F1-AC03-415F-A72D-C95C81C90259}"/>
              </a:ext>
            </a:extLst>
          </p:cNvPr>
          <p:cNvSpPr>
            <a:spLocks xmlns:a="http://schemas.openxmlformats.org/drawingml/2006/main" noGrp="1"/>
          </p:cNvSpPr>
          <p:nvPr/>
        </p:nvSpPr>
        <p:spPr>
          <a:xfrm xmlns:a="http://schemas.openxmlformats.org/drawingml/2006/main">
            <a:off x="4448175" y="491490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Your assets, design and copy</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 published business URL</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d317ace2b9f40f3"/>
          <a:stretch xmlns:a="http://schemas.openxmlformats.org/drawingml/2006/main"/>
        </p:blipFill>
        <p:spPr>
          <a:xfrm xmlns:a="http://schemas.openxmlformats.org/drawingml/2006/main">
            <a:off x="8858250" y="2181225"/>
            <a:ext cx="1619250" cy="161925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1BDE9E7-1E9D-4888-808A-AB6078C2ED84}"/>
              </a:ext>
            </a:extLst>
          </p:cNvPr>
          <p:cNvSpPr>
            <a:spLocks xmlns:a="http://schemas.openxmlformats.org/drawingml/2006/main" noGrp="1"/>
          </p:cNvSpPr>
          <p:nvPr/>
        </p:nvSpPr>
        <p:spPr>
          <a:xfrm xmlns:a="http://schemas.openxmlformats.org/drawingml/2006/main">
            <a:off x="8229600" y="3981450"/>
            <a:ext cx="3448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25" b="1">
                <a:solidFill>
                  <a:srgbClr val="002E57"/>
                </a:solidFill>
                <a:latin typeface="Bahnschrift"/>
                <a:ea typeface="Bahnschrift"/>
                <a:cs typeface="Bahnschrift"/>
              </a:defRPr>
            </a:pPr>
            <a:r>
              <a:rPr sz="2925" b="1">
                <a:solidFill>
                  <a:srgbClr val="002E57"/>
                </a:solidFill>
                <a:latin typeface="Bahnschrift"/>
                <a:ea typeface="Bahnschrift"/>
                <a:cs typeface="Bahnschrift"/>
              </a:rPr>
              <a:t>Lakshya</a:t>
            </a:r>
          </a:p>
        </p:txBody>
      </p:sp>
      <p:sp>
        <p:nvSpPr>
          <p:cNvPr id="16" name="text">
            <a:extLst xmlns:a="http://schemas.openxmlformats.org/drawingml/2006/main">
              <a:ext uri="{FF2B5EF4-FFF2-40B4-BE49-F238E27FC236}">
                <a16:creationId xmlns:a16="http://schemas.microsoft.com/office/drawing/2014/main" id="{27FC449E-2A53-407F-9ECB-4C5BCEA99800}"/>
              </a:ext>
            </a:extLst>
          </p:cNvPr>
          <p:cNvSpPr>
            <a:spLocks xmlns:a="http://schemas.openxmlformats.org/drawingml/2006/main" noGrp="1"/>
          </p:cNvSpPr>
          <p:nvPr/>
        </p:nvSpPr>
        <p:spPr>
          <a:xfrm xmlns:a="http://schemas.openxmlformats.org/drawingml/2006/main">
            <a:off x="8229600" y="44862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0877CF"/>
                </a:solidFill>
                <a:latin typeface="Bahnschrift"/>
                <a:ea typeface="Bahnschrift"/>
                <a:cs typeface="Bahnschrift"/>
              </a:defRPr>
            </a:pPr>
            <a:r>
              <a:rPr sz="1875" b="1">
                <a:solidFill>
                  <a:srgbClr val="0877CF"/>
                </a:solidFill>
                <a:latin typeface="Bahnschrift"/>
                <a:ea typeface="Bahnschrift"/>
                <a:cs typeface="Bahnschrift"/>
              </a:rPr>
              <a:t>Growth Team</a:t>
            </a:r>
          </a:p>
        </p:txBody>
      </p:sp>
      <p:sp>
        <p:nvSpPr>
          <p:cNvPr id="17" name="text">
            <a:extLst xmlns:a="http://schemas.openxmlformats.org/drawingml/2006/main">
              <a:ext uri="{FF2B5EF4-FFF2-40B4-BE49-F238E27FC236}">
                <a16:creationId xmlns:a16="http://schemas.microsoft.com/office/drawing/2014/main" id="{8BB0B7F3-11BE-4C91-8928-3D351CFC2950}"/>
              </a:ext>
            </a:extLst>
          </p:cNvPr>
          <p:cNvSpPr>
            <a:spLocks xmlns:a="http://schemas.openxmlformats.org/drawingml/2006/main" noGrp="1"/>
          </p:cNvSpPr>
          <p:nvPr/>
        </p:nvSpPr>
        <p:spPr>
          <a:xfrm xmlns:a="http://schemas.openxmlformats.org/drawingml/2006/main">
            <a:off x="8229600" y="4914900"/>
            <a:ext cx="347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Public sources, prospect fit</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and reviewed Gmail outreach</a:t>
            </a:r>
          </a:p>
        </p:txBody>
      </p:sp>
      <p:sp>
        <p:nvSpPr>
          <p:cNvPr id="18" name="text">
            <a:extLst xmlns:a="http://schemas.openxmlformats.org/drawingml/2006/main">
              <a:ext uri="{FF2B5EF4-FFF2-40B4-BE49-F238E27FC236}">
                <a16:creationId xmlns:a16="http://schemas.microsoft.com/office/drawing/2014/main" id="{354F7BD6-4AAE-4455-9BA7-FE03C515ECB6}"/>
              </a:ext>
            </a:extLst>
          </p:cNvPr>
          <p:cNvSpPr>
            <a:spLocks xmlns:a="http://schemas.openxmlformats.org/drawingml/2006/main" noGrp="1"/>
          </p:cNvSpPr>
          <p:nvPr/>
        </p:nvSpPr>
        <p:spPr>
          <a:xfrm xmlns:a="http://schemas.openxmlformats.org/drawingml/2006/main">
            <a:off x="666750" y="59245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002E57"/>
                </a:solidFill>
                <a:latin typeface="Bahnschrift"/>
                <a:ea typeface="Bahnschrift"/>
                <a:cs typeface="Bahnschrift"/>
              </a:defRPr>
            </a:pPr>
            <a:r>
              <a:rPr sz="1650" b="0">
                <a:solidFill>
                  <a:srgbClr val="002E57"/>
                </a:solidFill>
                <a:latin typeface="Bahnschrift"/>
                <a:ea typeface="Bahnschrift"/>
                <a:cs typeface="Bahnschrift"/>
              </a:rPr>
              <a:t>Also ready: Meera for Gmail, Milan for reminders, Sia for business help,</a:t>
            </a:r>
          </a:p>
        </p:txBody>
      </p:sp>
      <p:sp>
        <p:nvSpPr>
          <p:cNvPr id="19" name="text">
            <a:extLst xmlns:a="http://schemas.openxmlformats.org/drawingml/2006/main">
              <a:ext uri="{FF2B5EF4-FFF2-40B4-BE49-F238E27FC236}">
                <a16:creationId xmlns:a16="http://schemas.microsoft.com/office/drawing/2014/main" id="{4A623285-F5F6-427C-A3F3-19D780A51A2B}"/>
              </a:ext>
            </a:extLst>
          </p:cNvPr>
          <p:cNvSpPr>
            <a:spLocks xmlns:a="http://schemas.openxmlformats.org/drawingml/2006/main" noGrp="1"/>
          </p:cNvSpPr>
          <p:nvPr/>
        </p:nvSpPr>
        <p:spPr>
          <a:xfrm xmlns:a="http://schemas.openxmlformats.org/drawingml/2006/main">
            <a:off x="666750" y="621982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002E57"/>
                </a:solidFill>
                <a:latin typeface="Bahnschrift"/>
                <a:ea typeface="Bahnschrift"/>
                <a:cs typeface="Bahnschrift"/>
              </a:defRPr>
            </a:pPr>
            <a:r>
              <a:rPr sz="1650" b="0">
                <a:solidFill>
                  <a:srgbClr val="002E57"/>
                </a:solidFill>
                <a:latin typeface="Bahnschrift"/>
                <a:ea typeface="Bahnschrift"/>
                <a:cs typeface="Bahnschrift"/>
              </a:rPr>
              <a:t>Kabir for customer requests and Ira for growth insights.</a:t>
            </a:r>
          </a:p>
        </p:txBody>
      </p:sp>
    </p:spTree>
    <p:extLst>
      <p:ext uri="{BB962C8B-B14F-4D97-AF65-F5344CB8AC3E}">
        <p14:creationId xmlns:p14="http://schemas.microsoft.com/office/powerpoint/2010/main" val="595039610"/>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061B35"/>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9e4666ca5ba47fa"/>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9536A4FA-440C-49B2-9AE9-F645083DAB15}"/>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FFFFFF"/>
                </a:solidFill>
                <a:latin typeface="Bahnschrift"/>
                <a:ea typeface="Bahnschrift"/>
                <a:cs typeface="Bahnschrift"/>
              </a:defRPr>
            </a:pPr>
            <a:r>
              <a:rPr sz="1725" b="1">
                <a:solidFill>
                  <a:srgbClr val="FFFFFF"/>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5772234A-A452-456B-95E5-A4405A75C050}"/>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USP + Technology</a:t>
            </a:r>
          </a:p>
        </p:txBody>
      </p:sp>
      <p:sp>
        <p:nvSpPr>
          <p:cNvPr id="4" name="slide-title">
            <a:extLst xmlns:a="http://schemas.openxmlformats.org/drawingml/2006/main">
              <a:ext uri="{FF2B5EF4-FFF2-40B4-BE49-F238E27FC236}">
                <a16:creationId xmlns:a16="http://schemas.microsoft.com/office/drawing/2014/main" id="{EFF70E0B-399F-4EA6-87EF-D3BC0F9786CC}"/>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One business memory for every teammate</a:t>
            </a:r>
          </a:p>
        </p:txBody>
      </p:sp>
      <p:sp>
        <p:nvSpPr>
          <p:cNvPr id="5" name="page">
            <a:extLst xmlns:a="http://schemas.openxmlformats.org/drawingml/2006/main">
              <a:ext uri="{FF2B5EF4-FFF2-40B4-BE49-F238E27FC236}">
                <a16:creationId xmlns:a16="http://schemas.microsoft.com/office/drawing/2014/main" id="{B95C516A-1F15-4E6A-A308-C75BDA3981CA}"/>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06</a:t>
            </a:r>
          </a:p>
        </p:txBody>
      </p:sp>
      <p:sp>
        <p:nvSpPr>
          <p:cNvPr id="6" name="diagram-Approved facts,&#10;records and assets">
            <a:extLst xmlns:a="http://schemas.openxmlformats.org/drawingml/2006/main">
              <a:ext uri="{FF2B5EF4-FFF2-40B4-BE49-F238E27FC236}">
                <a16:creationId xmlns:a16="http://schemas.microsoft.com/office/drawing/2014/main" id="{A79FAFDA-CEB1-4BA0-AB9A-3B100BD2846E}"/>
              </a:ext>
            </a:extLst>
          </p:cNvPr>
          <p:cNvSpPr>
            <a:spLocks xmlns:a="http://schemas.openxmlformats.org/drawingml/2006/main" noGrp="1"/>
          </p:cNvSpPr>
          <p:nvPr/>
        </p:nvSpPr>
        <p:spPr>
          <a:xfrm xmlns:a="http://schemas.openxmlformats.org/drawingml/2006/main">
            <a:off x="666750" y="2524125"/>
            <a:ext cx="2952750" cy="952500"/>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Approved facts,</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records and assets</a:t>
            </a:r>
          </a:p>
        </p:txBody>
      </p:sp>
      <p:sp>
        <p:nvSpPr>
          <p:cNvPr id="7" name="diagram-Shared business memory&#10;Cognee + PostgreSQL">
            <a:extLst xmlns:a="http://schemas.openxmlformats.org/drawingml/2006/main">
              <a:ext uri="{FF2B5EF4-FFF2-40B4-BE49-F238E27FC236}">
                <a16:creationId xmlns:a16="http://schemas.microsoft.com/office/drawing/2014/main" id="{298F3916-0706-4EFC-B58C-850678C18BF7}"/>
              </a:ext>
            </a:extLst>
          </p:cNvPr>
          <p:cNvSpPr>
            <a:spLocks xmlns:a="http://schemas.openxmlformats.org/drawingml/2006/main" noGrp="1"/>
          </p:cNvSpPr>
          <p:nvPr/>
        </p:nvSpPr>
        <p:spPr>
          <a:xfrm xmlns:a="http://schemas.openxmlformats.org/drawingml/2006/main">
            <a:off x="4476750" y="2524125"/>
            <a:ext cx="3238500" cy="952500"/>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Shared business memory</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Cognee + PostgreSQL</a:t>
            </a:r>
          </a:p>
        </p:txBody>
      </p:sp>
      <p:sp>
        <p:nvSpPr>
          <p:cNvPr id="8" name="diagram-Ready teammate&#10;with scoped actions">
            <a:extLst xmlns:a="http://schemas.openxmlformats.org/drawingml/2006/main">
              <a:ext uri="{FF2B5EF4-FFF2-40B4-BE49-F238E27FC236}">
                <a16:creationId xmlns:a16="http://schemas.microsoft.com/office/drawing/2014/main" id="{9FFB3780-6430-40FA-9389-FB3F4ACCF266}"/>
              </a:ext>
            </a:extLst>
          </p:cNvPr>
          <p:cNvSpPr>
            <a:spLocks xmlns:a="http://schemas.openxmlformats.org/drawingml/2006/main" noGrp="1"/>
          </p:cNvSpPr>
          <p:nvPr/>
        </p:nvSpPr>
        <p:spPr>
          <a:xfrm xmlns:a="http://schemas.openxmlformats.org/drawingml/2006/main">
            <a:off x="8572500" y="2524125"/>
            <a:ext cx="2952750" cy="952500"/>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Ready teammate</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with scoped actions</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a:off x="3619500" y="3000375"/>
            <a:ext cx="857250" cy="0"/>
          </a:xfrm>
          <a:prstGeom xmlns:a="http://schemas.openxmlformats.org/drawingml/2006/main" prst="straightConnector1">
            <a:avLst/>
          </a:prstGeom>
          <a:ln xmlns:a="http://schemas.openxmlformats.org/drawingml/2006/main" w="19050">
            <a:solidFill>
              <a:srgbClr val="00BAF2"/>
            </a:solidFill>
            <a:tailEnd type="triangle" w="sm" len="sm"/>
          </a:ln>
        </p:spPr>
      </p:cxn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7715250" y="3000375"/>
            <a:ext cx="857250" cy="0"/>
          </a:xfrm>
          <a:prstGeom xmlns:a="http://schemas.openxmlformats.org/drawingml/2006/main" prst="straightConnector1">
            <a:avLst/>
          </a:prstGeom>
          <a:ln xmlns:a="http://schemas.openxmlformats.org/drawingml/2006/main" w="19050">
            <a:solidFill>
              <a:srgbClr val="00BAF2"/>
            </a:solidFill>
            <a:tailEnd type="triangle" w="sm" len="sm"/>
          </a:ln>
        </p:spPr>
      </p:cxnSp>
      <p:sp>
        <p:nvSpPr>
          <p:cNvPr id="11" name="diagram-Cloud workers&#10;BullMQ + Redis">
            <a:extLst xmlns:a="http://schemas.openxmlformats.org/drawingml/2006/main">
              <a:ext uri="{FF2B5EF4-FFF2-40B4-BE49-F238E27FC236}">
                <a16:creationId xmlns:a16="http://schemas.microsoft.com/office/drawing/2014/main" id="{2AF2DDD4-64AB-4EF1-BD92-DEEB7404AF62}"/>
              </a:ext>
            </a:extLst>
          </p:cNvPr>
          <p:cNvSpPr>
            <a:spLocks xmlns:a="http://schemas.openxmlformats.org/drawingml/2006/main" noGrp="1"/>
          </p:cNvSpPr>
          <p:nvPr/>
        </p:nvSpPr>
        <p:spPr>
          <a:xfrm xmlns:a="http://schemas.openxmlformats.org/drawingml/2006/main">
            <a:off x="4476750" y="4105275"/>
            <a:ext cx="3238500" cy="914400"/>
          </a:xfrm>
          <a:prstGeom xmlns:a="http://schemas.openxmlformats.org/drawingml/2006/main" prst="rect">
            <a:avLst/>
          </a:prstGeom>
          <a:solidFill xmlns:a="http://schemas.openxmlformats.org/drawingml/2006/main">
            <a:srgbClr val="0B3257"/>
          </a:solidFill>
          <a:ln xmlns:a="http://schemas.openxmlformats.org/drawingml/2006/main" w="14288">
            <a:solidFill>
              <a:srgbClr val="00BAF2"/>
            </a:solidFill>
          </a:ln>
        </p:spPr>
        <p:txBody>
          <a:bodyPr xmlns:a="http://schemas.openxmlformats.org/drawingml/2006/main" lIns="142875" tIns="114300" rIns="142875" bIns="114300" anchor="ctr">
            <a:noAutofit/>
          </a:bodyPr>
          <a:lstStyle xmlns:a="http://schemas.openxmlformats.org/drawingml/2006/main"/>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Cloud workers</a:t>
            </a:r>
          </a:p>
          <a:p xmlns:a="http://schemas.openxmlformats.org/drawingml/2006/main">
            <a:pPr algn="ctr">
              <a:defRPr sz="1875" b="1">
                <a:solidFill>
                  <a:srgbClr val="FFFFFF"/>
                </a:solidFill>
                <a:latin typeface="Bahnschrift"/>
                <a:ea typeface="Bahnschrift"/>
                <a:cs typeface="Bahnschrift"/>
              </a:defRPr>
            </a:pPr>
            <a:r>
              <a:rPr sz="1875" b="1">
                <a:solidFill>
                  <a:srgbClr val="FFFFFF"/>
                </a:solidFill>
                <a:latin typeface="Bahnschrift"/>
                <a:ea typeface="Bahnschrift"/>
                <a:cs typeface="Bahnschrift"/>
              </a:rPr>
              <a:t>BullMQ + Redis</a:t>
            </a:r>
          </a:p>
        </p:txBody>
      </p:sp>
      <p:cxnSp>
        <p:nvCxnSpPr>
          <p:cNvPr id="30" name=""/>
          <p:cNvCxnSpPr>
            <a:stCxn xmlns:a="http://schemas.openxmlformats.org/drawingml/2006/main" id="7" idx="2"/>
            <a:endCxn xmlns:a="http://schemas.openxmlformats.org/drawingml/2006/main" id="11" idx="0"/>
          </p:cNvCxnSpPr>
          <p:nvPr/>
        </p:nvCxnSpPr>
        <p:spPr>
          <a:xfrm xmlns:a="http://schemas.openxmlformats.org/drawingml/2006/main">
            <a:off x="6096000" y="3476625"/>
            <a:ext cx="0" cy="628650"/>
          </a:xfrm>
          <a:prstGeom xmlns:a="http://schemas.openxmlformats.org/drawingml/2006/main" prst="straightConnector1">
            <a:avLst/>
          </a:prstGeom>
          <a:ln xmlns:a="http://schemas.openxmlformats.org/drawingml/2006/main" w="19050">
            <a:solidFill>
              <a:srgbClr val="00BAF2"/>
            </a:solidFill>
            <a:tailEnd type="triangle" w="sm" len="sm"/>
          </a:ln>
        </p:spPr>
      </p:cxnSp>
      <p:sp>
        <p:nvSpPr>
          <p:cNvPr id="13" name="text">
            <a:extLst xmlns:a="http://schemas.openxmlformats.org/drawingml/2006/main">
              <a:ext uri="{FF2B5EF4-FFF2-40B4-BE49-F238E27FC236}">
                <a16:creationId xmlns:a16="http://schemas.microsoft.com/office/drawing/2014/main" id="{67B2F3A9-2AB5-4370-9842-4910BC4BF6C3}"/>
              </a:ext>
            </a:extLst>
          </p:cNvPr>
          <p:cNvSpPr>
            <a:spLocks xmlns:a="http://schemas.openxmlformats.org/drawingml/2006/main" noGrp="1"/>
          </p:cNvSpPr>
          <p:nvPr/>
        </p:nvSpPr>
        <p:spPr>
          <a:xfrm xmlns:a="http://schemas.openxmlformats.org/drawingml/2006/main">
            <a:off x="666750" y="42291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0BAF2"/>
                </a:solidFill>
                <a:latin typeface="Bahnschrift"/>
                <a:ea typeface="Bahnschrift"/>
                <a:cs typeface="Bahnschrift"/>
              </a:defRPr>
            </a:pPr>
            <a:r>
              <a:rPr sz="2025" b="1">
                <a:solidFill>
                  <a:srgbClr val="00BAF2"/>
                </a:solidFill>
                <a:latin typeface="Bahnschrift"/>
                <a:ea typeface="Bahnschrift"/>
                <a:cs typeface="Bahnschrift"/>
              </a:rPr>
              <a:t>Language + reasoning</a:t>
            </a:r>
          </a:p>
        </p:txBody>
      </p:sp>
      <p:sp>
        <p:nvSpPr>
          <p:cNvPr id="14" name="text">
            <a:extLst xmlns:a="http://schemas.openxmlformats.org/drawingml/2006/main">
              <a:ext uri="{FF2B5EF4-FFF2-40B4-BE49-F238E27FC236}">
                <a16:creationId xmlns:a16="http://schemas.microsoft.com/office/drawing/2014/main" id="{ACB43265-0F72-487D-A944-3FCFF11C1FE1}"/>
              </a:ext>
            </a:extLst>
          </p:cNvPr>
          <p:cNvSpPr>
            <a:spLocks xmlns:a="http://schemas.openxmlformats.org/drawingml/2006/main" noGrp="1"/>
          </p:cNvSpPr>
          <p:nvPr/>
        </p:nvSpPr>
        <p:spPr>
          <a:xfrm xmlns:a="http://schemas.openxmlformats.org/drawingml/2006/main">
            <a:off x="666750" y="4686300"/>
            <a:ext cx="3257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B8D5E8"/>
                </a:solidFill>
                <a:latin typeface="Bahnschrift"/>
                <a:ea typeface="Bahnschrift"/>
                <a:cs typeface="Bahnschrift"/>
              </a:defRPr>
            </a:pPr>
            <a:r>
              <a:rPr sz="2025" b="0">
                <a:solidFill>
                  <a:srgbClr val="B8D5E8"/>
                </a:solidFill>
                <a:latin typeface="Bahnschrift"/>
                <a:ea typeface="Bahnschrift"/>
                <a:cs typeface="Bahnschrift"/>
              </a:rPr>
              <a:t>Sarvam voice</a:t>
            </a:r>
          </a:p>
          <a:p xmlns:a="http://schemas.openxmlformats.org/drawingml/2006/main">
            <a:pPr algn="l">
              <a:lnSpc>
                <a:spcPct val="108000"/>
              </a:lnSpc>
              <a:buNone/>
              <a:defRPr sz="2025" b="0">
                <a:solidFill>
                  <a:srgbClr val="B8D5E8"/>
                </a:solidFill>
                <a:latin typeface="Bahnschrift"/>
                <a:ea typeface="Bahnschrift"/>
                <a:cs typeface="Bahnschrift"/>
              </a:defRPr>
            </a:pPr>
            <a:r>
              <a:rPr sz="2025" b="0">
                <a:solidFill>
                  <a:srgbClr val="B8D5E8"/>
                </a:solidFill>
                <a:latin typeface="Bahnschrift"/>
                <a:ea typeface="Bahnschrift"/>
                <a:cs typeface="Bahnschrift"/>
              </a:rPr>
              <a:t>Gemini Flash / Pro</a:t>
            </a:r>
          </a:p>
        </p:txBody>
      </p:sp>
      <p:sp>
        <p:nvSpPr>
          <p:cNvPr id="15" name="text">
            <a:extLst xmlns:a="http://schemas.openxmlformats.org/drawingml/2006/main">
              <a:ext uri="{FF2B5EF4-FFF2-40B4-BE49-F238E27FC236}">
                <a16:creationId xmlns:a16="http://schemas.microsoft.com/office/drawing/2014/main" id="{9FF83AAF-C784-4D7A-8C2A-F0D80F32BB1B}"/>
              </a:ext>
            </a:extLst>
          </p:cNvPr>
          <p:cNvSpPr>
            <a:spLocks xmlns:a="http://schemas.openxmlformats.org/drawingml/2006/main" noGrp="1"/>
          </p:cNvSpPr>
          <p:nvPr/>
        </p:nvSpPr>
        <p:spPr>
          <a:xfrm xmlns:a="http://schemas.openxmlformats.org/drawingml/2006/main">
            <a:off x="8572500" y="42291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0BAF2"/>
                </a:solidFill>
                <a:latin typeface="Bahnschrift"/>
                <a:ea typeface="Bahnschrift"/>
                <a:cs typeface="Bahnschrift"/>
              </a:defRPr>
            </a:pPr>
            <a:r>
              <a:rPr sz="2025" b="1">
                <a:solidFill>
                  <a:srgbClr val="00BAF2"/>
                </a:solidFill>
                <a:latin typeface="Bahnschrift"/>
                <a:ea typeface="Bahnschrift"/>
                <a:cs typeface="Bahnschrift"/>
              </a:rPr>
              <a:t>Connected actions</a:t>
            </a:r>
          </a:p>
        </p:txBody>
      </p:sp>
      <p:sp>
        <p:nvSpPr>
          <p:cNvPr id="16" name="text">
            <a:extLst xmlns:a="http://schemas.openxmlformats.org/drawingml/2006/main">
              <a:ext uri="{FF2B5EF4-FFF2-40B4-BE49-F238E27FC236}">
                <a16:creationId xmlns:a16="http://schemas.microsoft.com/office/drawing/2014/main" id="{A49A3EB0-8FB6-4B03-8B86-A4ACF1AEF7E5}"/>
              </a:ext>
            </a:extLst>
          </p:cNvPr>
          <p:cNvSpPr>
            <a:spLocks xmlns:a="http://schemas.openxmlformats.org/drawingml/2006/main" noGrp="1"/>
          </p:cNvSpPr>
          <p:nvPr/>
        </p:nvSpPr>
        <p:spPr>
          <a:xfrm xmlns:a="http://schemas.openxmlformats.org/drawingml/2006/main">
            <a:off x="8572500" y="46863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B8D5E8"/>
                </a:solidFill>
                <a:latin typeface="Bahnschrift"/>
                <a:ea typeface="Bahnschrift"/>
                <a:cs typeface="Bahnschrift"/>
              </a:defRPr>
            </a:pPr>
            <a:r>
              <a:rPr sz="1950" b="0">
                <a:solidFill>
                  <a:srgbClr val="B8D5E8"/>
                </a:solidFill>
                <a:latin typeface="Bahnschrift"/>
                <a:ea typeface="Bahnschrift"/>
                <a:cs typeface="Bahnschrift"/>
              </a:rPr>
              <a:t>Composio, WhatsApp Web</a:t>
            </a:r>
          </a:p>
          <a:p xmlns:a="http://schemas.openxmlformats.org/drawingml/2006/main">
            <a:pPr algn="l">
              <a:lnSpc>
                <a:spcPct val="108000"/>
              </a:lnSpc>
              <a:buNone/>
              <a:defRPr sz="1950" b="0">
                <a:solidFill>
                  <a:srgbClr val="B8D5E8"/>
                </a:solidFill>
                <a:latin typeface="Bahnschrift"/>
                <a:ea typeface="Bahnschrift"/>
                <a:cs typeface="Bahnschrift"/>
              </a:defRPr>
            </a:pPr>
            <a:r>
              <a:rPr sz="1950" b="0">
                <a:solidFill>
                  <a:srgbClr val="B8D5E8"/>
                </a:solidFill>
                <a:latin typeface="Bahnschrift"/>
                <a:ea typeface="Bahnschrift"/>
                <a:cs typeface="Bahnschrift"/>
              </a:rPr>
              <a:t>and Paytm modules</a:t>
            </a:r>
          </a:p>
        </p:txBody>
      </p:sp>
      <p:sp>
        <p:nvSpPr>
          <p:cNvPr id="17" name="text">
            <a:extLst xmlns:a="http://schemas.openxmlformats.org/drawingml/2006/main">
              <a:ext uri="{FF2B5EF4-FFF2-40B4-BE49-F238E27FC236}">
                <a16:creationId xmlns:a16="http://schemas.microsoft.com/office/drawing/2014/main" id="{135CE051-4B74-482D-8038-0988E782345B}"/>
              </a:ext>
            </a:extLst>
          </p:cNvPr>
          <p:cNvSpPr>
            <a:spLocks xmlns:a="http://schemas.openxmlformats.org/drawingml/2006/main" noGrp="1"/>
          </p:cNvSpPr>
          <p:nvPr/>
        </p:nvSpPr>
        <p:spPr>
          <a:xfrm xmlns:a="http://schemas.openxmlformats.org/drawingml/2006/main">
            <a:off x="666750" y="56864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FFFFFF"/>
                </a:solidFill>
                <a:latin typeface="Bahnschrift"/>
                <a:ea typeface="Bahnschrift"/>
                <a:cs typeface="Bahnschrift"/>
              </a:defRPr>
            </a:pPr>
            <a:r>
              <a:rPr sz="2250" b="1">
                <a:solidFill>
                  <a:srgbClr val="FFFFFF"/>
                </a:solidFill>
                <a:latin typeface="Bahnschrift"/>
                <a:ea typeface="Bahnschrift"/>
                <a:cs typeface="Bahnschrift"/>
              </a:rPr>
              <a:t>Browser closed, jobs continue. The owner can pause or take over.</a:t>
            </a:r>
          </a:p>
        </p:txBody>
      </p:sp>
      <p:sp>
        <p:nvSpPr>
          <p:cNvPr id="18" name="text">
            <a:extLst xmlns:a="http://schemas.openxmlformats.org/drawingml/2006/main">
              <a:ext uri="{FF2B5EF4-FFF2-40B4-BE49-F238E27FC236}">
                <a16:creationId xmlns:a16="http://schemas.microsoft.com/office/drawing/2014/main" id="{7DE84042-9569-4BB2-A7BE-AD03BC2B235F}"/>
              </a:ext>
            </a:extLst>
          </p:cNvPr>
          <p:cNvSpPr>
            <a:spLocks xmlns:a="http://schemas.openxmlformats.org/drawingml/2006/main" noGrp="1"/>
          </p:cNvSpPr>
          <p:nvPr/>
        </p:nvSpPr>
        <p:spPr>
          <a:xfrm xmlns:a="http://schemas.openxmlformats.org/drawingml/2006/main">
            <a:off x="666750" y="62007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B8D5E8"/>
                </a:solidFill>
                <a:latin typeface="Bahnschrift"/>
                <a:ea typeface="Bahnschrift"/>
                <a:cs typeface="Bahnschrift"/>
              </a:defRPr>
            </a:pPr>
            <a:r>
              <a:rPr sz="1500" b="0">
                <a:solidFill>
                  <a:srgbClr val="B8D5E8"/>
                </a:solidFill>
                <a:latin typeface="Bahnschrift"/>
                <a:ea typeface="Bahnschrift"/>
                <a:cs typeface="Bahnschrift"/>
              </a:rPr>
              <a:t>React · TypeScript / Fastify · Railway API / worker · Vercel frontend</a:t>
            </a:r>
          </a:p>
        </p:txBody>
      </p:sp>
    </p:spTree>
    <p:extLst>
      <p:ext uri="{BB962C8B-B14F-4D97-AF65-F5344CB8AC3E}">
        <p14:creationId xmlns:p14="http://schemas.microsoft.com/office/powerpoint/2010/main" val="1318091367"/>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c2f73b4b572431a"/>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20797078-6D00-4385-A94A-67A336E026D6}"/>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02E57"/>
                </a:solidFill>
                <a:latin typeface="Bahnschrift"/>
                <a:ea typeface="Bahnschrift"/>
                <a:cs typeface="Bahnschrift"/>
              </a:defRPr>
            </a:pPr>
            <a:r>
              <a:rPr sz="1725" b="1">
                <a:solidFill>
                  <a:srgbClr val="002E57"/>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2F34D815-D388-4CDB-8303-66231CA63C4E}"/>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Cost Optimisation</a:t>
            </a:r>
          </a:p>
        </p:txBody>
      </p:sp>
      <p:sp>
        <p:nvSpPr>
          <p:cNvPr id="4" name="slide-title">
            <a:extLst xmlns:a="http://schemas.openxmlformats.org/drawingml/2006/main">
              <a:ext uri="{FF2B5EF4-FFF2-40B4-BE49-F238E27FC236}">
                <a16:creationId xmlns:a16="http://schemas.microsoft.com/office/drawing/2014/main" id="{0CC77878-678B-42B7-8AC4-8A924B8F360D}"/>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2E57"/>
                </a:solidFill>
                <a:latin typeface="Bahnschrift"/>
                <a:ea typeface="Bahnschrift"/>
                <a:cs typeface="Bahnschrift"/>
              </a:defRPr>
            </a:pPr>
            <a:r>
              <a:rPr sz="3450" b="1">
                <a:solidFill>
                  <a:srgbClr val="002E57"/>
                </a:solidFill>
                <a:latin typeface="Bahnschrift"/>
                <a:ea typeface="Bahnschrift"/>
                <a:cs typeface="Bahnschrift"/>
              </a:rPr>
              <a:t>Spend reasoning where it earns its keep</a:t>
            </a:r>
          </a:p>
        </p:txBody>
      </p:sp>
      <p:sp>
        <p:nvSpPr>
          <p:cNvPr id="5" name="page">
            <a:extLst xmlns:a="http://schemas.openxmlformats.org/drawingml/2006/main">
              <a:ext uri="{FF2B5EF4-FFF2-40B4-BE49-F238E27FC236}">
                <a16:creationId xmlns:a16="http://schemas.microsoft.com/office/drawing/2014/main" id="{F98BBA29-5315-431B-A43A-8A082C71416F}"/>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07</a:t>
            </a:r>
          </a:p>
        </p:txBody>
      </p:sp>
      <p:sp>
        <p:nvSpPr>
          <p:cNvPr id="6" name="text">
            <a:extLst xmlns:a="http://schemas.openxmlformats.org/drawingml/2006/main">
              <a:ext uri="{FF2B5EF4-FFF2-40B4-BE49-F238E27FC236}">
                <a16:creationId xmlns:a16="http://schemas.microsoft.com/office/drawing/2014/main" id="{B00E08D7-3617-40B2-98AE-34C86AA2B774}"/>
              </a:ext>
            </a:extLst>
          </p:cNvPr>
          <p:cNvSpPr>
            <a:spLocks xmlns:a="http://schemas.openxmlformats.org/drawingml/2006/main" noGrp="1"/>
          </p:cNvSpPr>
          <p:nvPr/>
        </p:nvSpPr>
        <p:spPr>
          <a:xfrm xmlns:a="http://schemas.openxmlformats.org/drawingml/2006/main">
            <a:off x="666750" y="2333625"/>
            <a:ext cx="442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Model routing</a:t>
            </a:r>
          </a:p>
        </p:txBody>
      </p:sp>
      <p:sp>
        <p:nvSpPr>
          <p:cNvPr id="7" name="text">
            <a:extLst xmlns:a="http://schemas.openxmlformats.org/drawingml/2006/main">
              <a:ext uri="{FF2B5EF4-FFF2-40B4-BE49-F238E27FC236}">
                <a16:creationId xmlns:a16="http://schemas.microsoft.com/office/drawing/2014/main" id="{D8C16C92-96EF-4DA8-9267-F0F4A4E7647B}"/>
              </a:ext>
            </a:extLst>
          </p:cNvPr>
          <p:cNvSpPr>
            <a:spLocks xmlns:a="http://schemas.openxmlformats.org/drawingml/2006/main" noGrp="1"/>
          </p:cNvSpPr>
          <p:nvPr/>
        </p:nvSpPr>
        <p:spPr>
          <a:xfrm xmlns:a="http://schemas.openxmlformats.org/drawingml/2006/main">
            <a:off x="666750" y="2667000"/>
            <a:ext cx="461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Flash for recurring merchant work.</a:t>
            </a:r>
          </a:p>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Pro HIGH for website creation.</a:t>
            </a:r>
          </a:p>
        </p:txBody>
      </p:sp>
      <p:sp>
        <p:nvSpPr>
          <p:cNvPr id="8" name="text">
            <a:extLst xmlns:a="http://schemas.openxmlformats.org/drawingml/2006/main">
              <a:ext uri="{FF2B5EF4-FFF2-40B4-BE49-F238E27FC236}">
                <a16:creationId xmlns:a16="http://schemas.microsoft.com/office/drawing/2014/main" id="{C330EA11-AA02-454A-B838-45956C28C00C}"/>
              </a:ext>
            </a:extLst>
          </p:cNvPr>
          <p:cNvSpPr>
            <a:spLocks xmlns:a="http://schemas.openxmlformats.org/drawingml/2006/main" noGrp="1"/>
          </p:cNvSpPr>
          <p:nvPr/>
        </p:nvSpPr>
        <p:spPr>
          <a:xfrm xmlns:a="http://schemas.openxmlformats.org/drawingml/2006/main">
            <a:off x="666750" y="3238500"/>
            <a:ext cx="442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Saved progress</a:t>
            </a:r>
          </a:p>
        </p:txBody>
      </p:sp>
      <p:sp>
        <p:nvSpPr>
          <p:cNvPr id="9" name="text">
            <a:extLst xmlns:a="http://schemas.openxmlformats.org/drawingml/2006/main">
              <a:ext uri="{FF2B5EF4-FFF2-40B4-BE49-F238E27FC236}">
                <a16:creationId xmlns:a16="http://schemas.microsoft.com/office/drawing/2014/main" id="{4DAF0C63-6077-4335-BE6B-93DAD6CF481D}"/>
              </a:ext>
            </a:extLst>
          </p:cNvPr>
          <p:cNvSpPr>
            <a:spLocks xmlns:a="http://schemas.openxmlformats.org/drawingml/2006/main" noGrp="1"/>
          </p:cNvSpPr>
          <p:nvPr/>
        </p:nvSpPr>
        <p:spPr>
          <a:xfrm xmlns:a="http://schemas.openxmlformats.org/drawingml/2006/main">
            <a:off x="666750" y="3571875"/>
            <a:ext cx="461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Resume completed stages</a:t>
            </a:r>
          </a:p>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without repeating their work.</a:t>
            </a:r>
          </a:p>
        </p:txBody>
      </p:sp>
      <p:sp>
        <p:nvSpPr>
          <p:cNvPr id="10" name="text">
            <a:extLst xmlns:a="http://schemas.openxmlformats.org/drawingml/2006/main">
              <a:ext uri="{FF2B5EF4-FFF2-40B4-BE49-F238E27FC236}">
                <a16:creationId xmlns:a16="http://schemas.microsoft.com/office/drawing/2014/main" id="{E7A9A7CB-FD7F-4D9F-86E7-6FFF9113C16E}"/>
              </a:ext>
            </a:extLst>
          </p:cNvPr>
          <p:cNvSpPr>
            <a:spLocks xmlns:a="http://schemas.openxmlformats.org/drawingml/2006/main" noGrp="1"/>
          </p:cNvSpPr>
          <p:nvPr/>
        </p:nvSpPr>
        <p:spPr>
          <a:xfrm xmlns:a="http://schemas.openxmlformats.org/drawingml/2006/main">
            <a:off x="666750" y="4143375"/>
            <a:ext cx="442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Bounded memory</a:t>
            </a:r>
          </a:p>
        </p:txBody>
      </p:sp>
      <p:sp>
        <p:nvSpPr>
          <p:cNvPr id="11" name="text">
            <a:extLst xmlns:a="http://schemas.openxmlformats.org/drawingml/2006/main">
              <a:ext uri="{FF2B5EF4-FFF2-40B4-BE49-F238E27FC236}">
                <a16:creationId xmlns:a16="http://schemas.microsoft.com/office/drawing/2014/main" id="{B6435C30-AF4C-4336-A5BF-31A3B66B7781}"/>
              </a:ext>
            </a:extLst>
          </p:cNvPr>
          <p:cNvSpPr>
            <a:spLocks xmlns:a="http://schemas.openxmlformats.org/drawingml/2006/main" noGrp="1"/>
          </p:cNvSpPr>
          <p:nvPr/>
        </p:nvSpPr>
        <p:spPr>
          <a:xfrm xmlns:a="http://schemas.openxmlformats.org/drawingml/2006/main">
            <a:off x="666750" y="4476750"/>
            <a:ext cx="461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Reuse unchanged indexes.</a:t>
            </a:r>
          </a:p>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Retrieve relevant approved excerpts.</a:t>
            </a:r>
          </a:p>
        </p:txBody>
      </p:sp>
      <p:sp>
        <p:nvSpPr>
          <p:cNvPr id="12" name="text">
            <a:extLst xmlns:a="http://schemas.openxmlformats.org/drawingml/2006/main">
              <a:ext uri="{FF2B5EF4-FFF2-40B4-BE49-F238E27FC236}">
                <a16:creationId xmlns:a16="http://schemas.microsoft.com/office/drawing/2014/main" id="{2BF9D713-7640-484C-9A3D-61C3D0D0006E}"/>
              </a:ext>
            </a:extLst>
          </p:cNvPr>
          <p:cNvSpPr>
            <a:spLocks xmlns:a="http://schemas.openxmlformats.org/drawingml/2006/main" noGrp="1"/>
          </p:cNvSpPr>
          <p:nvPr/>
        </p:nvSpPr>
        <p:spPr>
          <a:xfrm xmlns:a="http://schemas.openxmlformats.org/drawingml/2006/main">
            <a:off x="666750" y="5048250"/>
            <a:ext cx="442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0877CF"/>
                </a:solidFill>
                <a:latin typeface="Bahnschrift"/>
                <a:ea typeface="Bahnschrift"/>
                <a:cs typeface="Bahnschrift"/>
              </a:defRPr>
            </a:pPr>
            <a:r>
              <a:rPr sz="2025" b="1">
                <a:solidFill>
                  <a:srgbClr val="0877CF"/>
                </a:solidFill>
                <a:latin typeface="Bahnschrift"/>
                <a:ea typeface="Bahnschrift"/>
                <a:cs typeface="Bahnschrift"/>
              </a:rPr>
              <a:t>Predictable visuals</a:t>
            </a:r>
          </a:p>
        </p:txBody>
      </p:sp>
      <p:sp>
        <p:nvSpPr>
          <p:cNvPr id="13" name="text">
            <a:extLst xmlns:a="http://schemas.openxmlformats.org/drawingml/2006/main">
              <a:ext uri="{FF2B5EF4-FFF2-40B4-BE49-F238E27FC236}">
                <a16:creationId xmlns:a16="http://schemas.microsoft.com/office/drawing/2014/main" id="{36ED21FE-0D39-43B1-9D57-ECA62A3D54FB}"/>
              </a:ext>
            </a:extLst>
          </p:cNvPr>
          <p:cNvSpPr>
            <a:spLocks xmlns:a="http://schemas.openxmlformats.org/drawingml/2006/main" noGrp="1"/>
          </p:cNvSpPr>
          <p:nvPr/>
        </p:nvSpPr>
        <p:spPr>
          <a:xfrm xmlns:a="http://schemas.openxmlformats.org/drawingml/2006/main">
            <a:off x="666750" y="5381625"/>
            <a:ext cx="461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Reusable templates and</a:t>
            </a:r>
          </a:p>
          <a:p xmlns:a="http://schemas.openxmlformats.org/drawingml/2006/main">
            <a:pPr algn="l">
              <a:lnSpc>
                <a:spcPct val="108000"/>
              </a:lnSpc>
              <a:buNone/>
              <a:defRPr sz="1875" b="0">
                <a:solidFill>
                  <a:srgbClr val="002E57"/>
                </a:solidFill>
                <a:latin typeface="Bahnschrift"/>
                <a:ea typeface="Bahnschrift"/>
                <a:cs typeface="Bahnschrift"/>
              </a:defRPr>
            </a:pPr>
            <a:r>
              <a:rPr sz="1875" b="0">
                <a:solidFill>
                  <a:srgbClr val="002E57"/>
                </a:solidFill>
                <a:latin typeface="Bahnschrift"/>
                <a:ea typeface="Bahnschrift"/>
                <a:cs typeface="Bahnschrift"/>
              </a:rPr>
              <a:t>merchant-approved photos.</a:t>
            </a:r>
          </a:p>
        </p:txBody>
      </p:sp>
      <p:sp>
        <p:nvSpPr>
          <p:cNvPr id="14" name="text">
            <a:extLst xmlns:a="http://schemas.openxmlformats.org/drawingml/2006/main">
              <a:ext uri="{FF2B5EF4-FFF2-40B4-BE49-F238E27FC236}">
                <a16:creationId xmlns:a16="http://schemas.microsoft.com/office/drawing/2014/main" id="{38BA1FC5-9F4B-4448-AB16-517DD245E6F4}"/>
              </a:ext>
            </a:extLst>
          </p:cNvPr>
          <p:cNvSpPr>
            <a:spLocks xmlns:a="http://schemas.openxmlformats.org/drawingml/2006/main" noGrp="1"/>
          </p:cNvSpPr>
          <p:nvPr/>
        </p:nvSpPr>
        <p:spPr>
          <a:xfrm xmlns:a="http://schemas.openxmlformats.org/drawingml/2006/main">
            <a:off x="6429375" y="227647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002E57"/>
                </a:solidFill>
                <a:latin typeface="Bahnschrift"/>
                <a:ea typeface="Bahnschrift"/>
                <a:cs typeface="Bahnschrift"/>
              </a:defRPr>
            </a:pPr>
            <a:r>
              <a:rPr sz="3600" b="1">
                <a:solidFill>
                  <a:srgbClr val="002E57"/>
                </a:solidFill>
                <a:latin typeface="Bahnschrift"/>
                <a:ea typeface="Bahnschrift"/>
                <a:cs typeface="Bahnschrift"/>
              </a:rPr>
              <a:t>One real quote</a:t>
            </a:r>
          </a:p>
        </p:txBody>
      </p:sp>
      <p:sp>
        <p:nvSpPr>
          <p:cNvPr id="15" name="text">
            <a:extLst xmlns:a="http://schemas.openxmlformats.org/drawingml/2006/main">
              <a:ext uri="{FF2B5EF4-FFF2-40B4-BE49-F238E27FC236}">
                <a16:creationId xmlns:a16="http://schemas.microsoft.com/office/drawing/2014/main" id="{537DBBBC-820C-4C12-BCEB-774F0864E15C}"/>
              </a:ext>
            </a:extLst>
          </p:cNvPr>
          <p:cNvSpPr>
            <a:spLocks xmlns:a="http://schemas.openxmlformats.org/drawingml/2006/main" noGrp="1"/>
          </p:cNvSpPr>
          <p:nvPr/>
        </p:nvSpPr>
        <p:spPr>
          <a:xfrm xmlns:a="http://schemas.openxmlformats.org/drawingml/2006/main">
            <a:off x="6448425" y="31146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0877CF"/>
                </a:solidFill>
                <a:latin typeface="Bahnschrift"/>
                <a:ea typeface="Bahnschrift"/>
                <a:cs typeface="Bahnschrift"/>
              </a:defRPr>
            </a:pPr>
            <a:r>
              <a:rPr sz="1800" b="1">
                <a:solidFill>
                  <a:srgbClr val="0877CF"/>
                </a:solidFill>
                <a:latin typeface="Bahnschrift"/>
                <a:ea typeface="Bahnschrift"/>
                <a:cs typeface="Bahnschrift"/>
              </a:rPr>
              <a:t>Recorded model usage · 5 October 2026</a:t>
            </a:r>
          </a:p>
        </p:txBody>
      </p:sp>
      <p:graphicFrame>
        <p:nvGraphicFramePr>
          <p:cNvPr id="33" name=""/>
          <p:cNvGraphicFramePr/>
          <p:nvPr/>
        </p:nvGraphicFramePr>
        <p:xfrm>
          <a:off xmlns:a="http://schemas.openxmlformats.org/drawingml/2006/main" x="6429375" y="3743325"/>
          <a:ext xmlns:a="http://schemas.openxmlformats.org/drawingml/2006/main" cx="5048250" cy="2047875"/>
        </p:xfrm>
        <a:graphic xmlns:a="http://schemas.openxmlformats.org/drawingml/2006/main">
          <a:graphicData uri="http://schemas.openxmlformats.org/drawingml/2006/table">
            <a:tbl>
              <a:tblPr/>
              <a:tblGrid>
                <a:gridCol w="2762250"/>
                <a:gridCol w="2286000"/>
              </a:tblGrid>
              <a:tr h="511969">
                <a:tc>
                  <a:txBody>
                    <a:bodyPr/>
                    <a:lstStyle/>
                    <a:p>
                      <a:r>
                        <a:rPr sz="1650" b="1">
                          <a:solidFill>
                            <a:srgbClr val="FFFFFF"/>
                          </a:solidFill>
                          <a:latin typeface="Bahnschrift"/>
                          <a:ea typeface="Bahnschrift"/>
                          <a:cs typeface="Bahnschrift"/>
                        </a:rPr>
                        <a:t>Component</a:t>
                      </a:r>
                    </a:p>
                  </a:txBody>
                  <a:tcPr marL="171450" marR="133350" marT="47625" marB="47625" anchor="ctr">
                    <a:solidFill>
                      <a:srgbClr val="002E57"/>
                    </a:solidFill>
                  </a:tcPr>
                </a:tc>
                <a:tc>
                  <a:txBody>
                    <a:bodyPr/>
                    <a:lstStyle/>
                    <a:p>
                      <a:r>
                        <a:rPr sz="1650" b="1">
                          <a:solidFill>
                            <a:srgbClr val="FFFFFF"/>
                          </a:solidFill>
                          <a:latin typeface="Bahnschrift"/>
                          <a:ea typeface="Bahnschrift"/>
                          <a:cs typeface="Bahnschrift"/>
                        </a:rPr>
                        <a:t>Recorded tokens</a:t>
                      </a:r>
                    </a:p>
                  </a:txBody>
                  <a:tcPr marL="171450" marR="133350" marT="47625" marB="47625" anchor="ctr">
                    <a:solidFill>
                      <a:srgbClr val="002E57"/>
                    </a:solidFill>
                  </a:tcPr>
                </a:tc>
              </a:tr>
              <a:tr h="511969">
                <a:tc>
                  <a:txBody>
                    <a:bodyPr/>
                    <a:lstStyle/>
                    <a:p>
                      <a:r>
                        <a:rPr sz="1875">
                          <a:solidFill>
                            <a:srgbClr val="002E57"/>
                          </a:solidFill>
                          <a:latin typeface="Bahnschrift"/>
                          <a:ea typeface="Bahnschrift"/>
                          <a:cs typeface="Bahnschrift"/>
                        </a:rPr>
                        <a:t>Input</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4,763</a:t>
                      </a:r>
                    </a:p>
                  </a:txBody>
                  <a:tcPr marL="171450" marR="133350" marT="47625" marB="47625" anchor="ctr">
                    <a:solidFill>
                      <a:srgbClr val="FFFFFF"/>
                    </a:solidFill>
                  </a:tcPr>
                </a:tc>
              </a:tr>
              <a:tr h="511969">
                <a:tc>
                  <a:txBody>
                    <a:bodyPr/>
                    <a:lstStyle/>
                    <a:p>
                      <a:r>
                        <a:rPr sz="1875">
                          <a:solidFill>
                            <a:srgbClr val="002E57"/>
                          </a:solidFill>
                          <a:latin typeface="Bahnschrift"/>
                          <a:ea typeface="Bahnschrift"/>
                          <a:cs typeface="Bahnschrift"/>
                        </a:rPr>
                        <a:t>Output</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252</a:t>
                      </a:r>
                    </a:p>
                  </a:txBody>
                  <a:tcPr marL="171450" marR="133350" marT="47625" marB="47625" anchor="ctr">
                    <a:solidFill>
                      <a:srgbClr val="FFFFFF"/>
                    </a:solidFill>
                  </a:tcPr>
                </a:tc>
              </a:tr>
              <a:tr h="511969">
                <a:tc>
                  <a:txBody>
                    <a:bodyPr/>
                    <a:lstStyle/>
                    <a:p>
                      <a:r>
                        <a:rPr sz="1875" b="1">
                          <a:solidFill>
                            <a:srgbClr val="002E57"/>
                          </a:solidFill>
                          <a:latin typeface="Bahnschrift"/>
                          <a:ea typeface="Bahnschrift"/>
                          <a:cs typeface="Bahnschrift"/>
                        </a:rPr>
                        <a:t>Total</a:t>
                      </a:r>
                    </a:p>
                  </a:txBody>
                  <a:tcPr marL="171450" marR="133350" marT="47625" marB="47625" anchor="ctr">
                    <a:solidFill>
                      <a:srgbClr val="EAF9FF"/>
                    </a:solidFill>
                  </a:tcPr>
                </a:tc>
                <a:tc>
                  <a:txBody>
                    <a:bodyPr/>
                    <a:lstStyle/>
                    <a:p>
                      <a:r>
                        <a:rPr sz="1875" b="1">
                          <a:solidFill>
                            <a:srgbClr val="002E57"/>
                          </a:solidFill>
                          <a:latin typeface="Bahnschrift"/>
                          <a:ea typeface="Bahnschrift"/>
                          <a:cs typeface="Bahnschrift"/>
                        </a:rPr>
                        <a:t>5,015</a:t>
                      </a:r>
                    </a:p>
                  </a:txBody>
                  <a:tcPr marL="171450" marR="133350" marT="47625" marB="47625" anchor="ctr">
                    <a:solidFill>
                      <a:srgbClr val="EAF9FF"/>
                    </a:solidFill>
                  </a:tcPr>
                </a:tc>
              </a:tr>
            </a:tbl>
          </a:graphicData>
        </a:graphic>
      </p:graphicFrame>
      <p:sp>
        <p:nvSpPr>
          <p:cNvPr id="17" name="text">
            <a:extLst xmlns:a="http://schemas.openxmlformats.org/drawingml/2006/main">
              <a:ext uri="{FF2B5EF4-FFF2-40B4-BE49-F238E27FC236}">
                <a16:creationId xmlns:a16="http://schemas.microsoft.com/office/drawing/2014/main" id="{C341BB9E-13A1-4EB2-A04A-CF63AB121262}"/>
              </a:ext>
            </a:extLst>
          </p:cNvPr>
          <p:cNvSpPr>
            <a:spLocks xmlns:a="http://schemas.openxmlformats.org/drawingml/2006/main" noGrp="1"/>
          </p:cNvSpPr>
          <p:nvPr/>
        </p:nvSpPr>
        <p:spPr>
          <a:xfrm xmlns:a="http://schemas.openxmlformats.org/drawingml/2006/main">
            <a:off x="6429375" y="597217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26A7C"/>
                </a:solidFill>
                <a:latin typeface="Bahnschrift"/>
                <a:ea typeface="Bahnschrift"/>
                <a:cs typeface="Bahnschrift"/>
              </a:defRPr>
            </a:pPr>
            <a:r>
              <a:rPr sz="1425" b="0">
                <a:solidFill>
                  <a:srgbClr val="526A7C"/>
                </a:solidFill>
                <a:latin typeface="Bahnschrift"/>
                <a:ea typeface="Bahnschrift"/>
                <a:cs typeface="Bahnschrift"/>
              </a:rPr>
              <a:t>Gemini 3.7 Flash · one completed cafe quote.</a:t>
            </a:r>
          </a:p>
          <a:p xmlns:a="http://schemas.openxmlformats.org/drawingml/2006/main">
            <a:pPr algn="l">
              <a:lnSpc>
                <a:spcPct val="108000"/>
              </a:lnSpc>
              <a:buNone/>
              <a:defRPr sz="1425" b="0">
                <a:solidFill>
                  <a:srgbClr val="526A7C"/>
                </a:solidFill>
                <a:latin typeface="Bahnschrift"/>
                <a:ea typeface="Bahnschrift"/>
                <a:cs typeface="Bahnschrift"/>
              </a:defRPr>
            </a:pPr>
            <a:r>
              <a:rPr sz="1425" b="0">
                <a:solidFill>
                  <a:srgbClr val="526A7C"/>
                </a:solidFill>
                <a:latin typeface="Bahnschrift"/>
                <a:ea typeface="Bahnschrift"/>
                <a:cs typeface="Bahnschrift"/>
              </a:rPr>
              <a:t>Usage is observed; total delivery cost is unmeasured.</a:t>
            </a:r>
          </a:p>
          <a:p xmlns:a="http://schemas.openxmlformats.org/drawingml/2006/main">
            <a:pPr algn="l">
              <a:lnSpc>
                <a:spcPct val="108000"/>
              </a:lnSpc>
              <a:buNone/>
              <a:defRPr sz="1425" b="0">
                <a:solidFill>
                  <a:srgbClr val="526A7C"/>
                </a:solidFill>
                <a:latin typeface="Bahnschrift"/>
                <a:ea typeface="Bahnschrift"/>
                <a:cs typeface="Bahnschrift"/>
              </a:defRPr>
            </a:pPr>
            <a:r>
              <a:rPr sz="1425" b="0">
                <a:solidFill>
                  <a:srgbClr val="526A7C"/>
                </a:solidFill>
                <a:latin typeface="Bahnschrift"/>
                <a:ea typeface="Bahnschrift"/>
                <a:cs typeface="Bahnschrift"/>
              </a:rPr>
              <a:t>Tools, memory, voice, hosting and support add cost.</a:t>
            </a:r>
          </a:p>
        </p:txBody>
      </p:sp>
    </p:spTree>
    <p:extLst>
      <p:ext uri="{BB962C8B-B14F-4D97-AF65-F5344CB8AC3E}">
        <p14:creationId xmlns:p14="http://schemas.microsoft.com/office/powerpoint/2010/main" val="1676221211"/>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3ce1f6b4f654150"/>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4B99351-5F61-4205-BFA8-244B0ACA7BF1}"/>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02E57"/>
                </a:solidFill>
                <a:latin typeface="Bahnschrift"/>
                <a:ea typeface="Bahnschrift"/>
                <a:cs typeface="Bahnschrift"/>
              </a:defRPr>
            </a:pPr>
            <a:r>
              <a:rPr sz="1725" b="1">
                <a:solidFill>
                  <a:srgbClr val="002E57"/>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DC3C335E-62D3-4114-8C90-6DC1926AF9D1}"/>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Business Model</a:t>
            </a:r>
          </a:p>
        </p:txBody>
      </p:sp>
      <p:sp>
        <p:nvSpPr>
          <p:cNvPr id="4" name="slide-title">
            <a:extLst xmlns:a="http://schemas.openxmlformats.org/drawingml/2006/main">
              <a:ext uri="{FF2B5EF4-FFF2-40B4-BE49-F238E27FC236}">
                <a16:creationId xmlns:a16="http://schemas.microsoft.com/office/drawing/2014/main" id="{67A1233B-896A-41D7-A9A0-7D4FE4DB7303}"/>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2E57"/>
                </a:solidFill>
                <a:latin typeface="Bahnschrift"/>
                <a:ea typeface="Bahnschrift"/>
                <a:cs typeface="Bahnschrift"/>
              </a:defRPr>
            </a:pPr>
            <a:r>
              <a:rPr sz="3450" b="1">
                <a:solidFill>
                  <a:srgbClr val="002E57"/>
                </a:solidFill>
                <a:latin typeface="Bahnschrift"/>
                <a:ea typeface="Bahnschrift"/>
                <a:cs typeface="Bahnschrift"/>
              </a:rPr>
              <a:t>A monthly AI team for each business</a:t>
            </a:r>
          </a:p>
        </p:txBody>
      </p:sp>
      <p:sp>
        <p:nvSpPr>
          <p:cNvPr id="5" name="page">
            <a:extLst xmlns:a="http://schemas.openxmlformats.org/drawingml/2006/main">
              <a:ext uri="{FF2B5EF4-FFF2-40B4-BE49-F238E27FC236}">
                <a16:creationId xmlns:a16="http://schemas.microsoft.com/office/drawing/2014/main" id="{C27AD875-C411-47A6-AD96-CAF2114DE845}"/>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08</a:t>
            </a:r>
          </a:p>
        </p:txBody>
      </p:sp>
      <p:graphicFrame>
        <p:nvGraphicFramePr>
          <p:cNvPr id="17" name=""/>
          <p:cNvGraphicFramePr/>
          <p:nvPr/>
        </p:nvGraphicFramePr>
        <p:xfrm>
          <a:off xmlns:a="http://schemas.openxmlformats.org/drawingml/2006/main" x="666750" y="2333625"/>
          <a:ext xmlns:a="http://schemas.openxmlformats.org/drawingml/2006/main" cx="10839450" cy="2295525"/>
        </p:xfrm>
        <a:graphic xmlns:a="http://schemas.openxmlformats.org/drawingml/2006/main">
          <a:graphicData uri="http://schemas.openxmlformats.org/drawingml/2006/table">
            <a:tbl>
              <a:tblPr/>
              <a:tblGrid>
                <a:gridCol w="2619375"/>
                <a:gridCol w="3048000"/>
                <a:gridCol w="5172075"/>
              </a:tblGrid>
              <a:tr h="573881">
                <a:tc>
                  <a:txBody>
                    <a:bodyPr/>
                    <a:lstStyle/>
                    <a:p>
                      <a:r>
                        <a:rPr sz="1650" b="1">
                          <a:solidFill>
                            <a:srgbClr val="FFFFFF"/>
                          </a:solidFill>
                          <a:latin typeface="Bahnschrift"/>
                          <a:ea typeface="Bahnschrift"/>
                          <a:cs typeface="Bahnschrift"/>
                        </a:rPr>
                        <a:t>Plan</a:t>
                      </a:r>
                    </a:p>
                  </a:txBody>
                  <a:tcPr marL="171450" marR="133350" marT="47625" marB="47625" anchor="ctr">
                    <a:solidFill>
                      <a:srgbClr val="002E57"/>
                    </a:solidFill>
                  </a:tcPr>
                </a:tc>
                <a:tc>
                  <a:txBody>
                    <a:bodyPr/>
                    <a:lstStyle/>
                    <a:p>
                      <a:r>
                        <a:rPr sz="1650" b="1">
                          <a:solidFill>
                            <a:srgbClr val="FFFFFF"/>
                          </a:solidFill>
                          <a:latin typeface="Bahnschrift"/>
                          <a:ea typeface="Bahnschrift"/>
                          <a:cs typeface="Bahnschrift"/>
                        </a:rPr>
                        <a:t>Monthly price</a:t>
                      </a:r>
                    </a:p>
                  </a:txBody>
                  <a:tcPr marL="171450" marR="133350" marT="47625" marB="47625" anchor="ctr">
                    <a:solidFill>
                      <a:srgbClr val="002E57"/>
                    </a:solidFill>
                  </a:tcPr>
                </a:tc>
                <a:tc>
                  <a:txBody>
                    <a:bodyPr/>
                    <a:lstStyle/>
                    <a:p>
                      <a:r>
                        <a:rPr sz="1650" b="1">
                          <a:solidFill>
                            <a:srgbClr val="FFFFFF"/>
                          </a:solidFill>
                          <a:latin typeface="Bahnschrift"/>
                          <a:ea typeface="Bahnschrift"/>
                          <a:cs typeface="Bahnschrift"/>
                        </a:rPr>
                        <a:t>Indicative scope</a:t>
                      </a:r>
                    </a:p>
                  </a:txBody>
                  <a:tcPr marL="171450" marR="133350" marT="47625" marB="47625" anchor="ctr">
                    <a:solidFill>
                      <a:srgbClr val="002E57"/>
                    </a:solidFill>
                  </a:tcPr>
                </a:tc>
              </a:tr>
              <a:tr h="573881">
                <a:tc>
                  <a:txBody>
                    <a:bodyPr/>
                    <a:lstStyle/>
                    <a:p>
                      <a:r>
                        <a:rPr sz="1875">
                          <a:solidFill>
                            <a:srgbClr val="002E57"/>
                          </a:solidFill>
                          <a:latin typeface="Bahnschrift"/>
                          <a:ea typeface="Bahnschrift"/>
                          <a:cs typeface="Bahnschrift"/>
                        </a:rPr>
                        <a:t>Dukaan</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₹999</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2 active teammates</a:t>
                      </a:r>
                    </a:p>
                  </a:txBody>
                  <a:tcPr marL="171450" marR="133350" marT="47625" marB="47625" anchor="ctr">
                    <a:solidFill>
                      <a:srgbClr val="FFFFFF"/>
                    </a:solidFill>
                  </a:tcPr>
                </a:tc>
              </a:tr>
              <a:tr h="573881">
                <a:tc>
                  <a:txBody>
                    <a:bodyPr/>
                    <a:lstStyle/>
                    <a:p>
                      <a:r>
                        <a:rPr sz="1875" b="1">
                          <a:solidFill>
                            <a:srgbClr val="002E57"/>
                          </a:solidFill>
                          <a:latin typeface="Bahnschrift"/>
                          <a:ea typeface="Bahnschrift"/>
                          <a:cs typeface="Bahnschrift"/>
                        </a:rPr>
                        <a:t>Business</a:t>
                      </a:r>
                    </a:p>
                  </a:txBody>
                  <a:tcPr marL="171450" marR="133350" marT="47625" marB="47625" anchor="ctr">
                    <a:solidFill>
                      <a:srgbClr val="EAF9FF"/>
                    </a:solidFill>
                  </a:tcPr>
                </a:tc>
                <a:tc>
                  <a:txBody>
                    <a:bodyPr/>
                    <a:lstStyle/>
                    <a:p>
                      <a:r>
                        <a:rPr sz="1875" b="1">
                          <a:solidFill>
                            <a:srgbClr val="002E57"/>
                          </a:solidFill>
                          <a:latin typeface="Bahnschrift"/>
                          <a:ea typeface="Bahnschrift"/>
                          <a:cs typeface="Bahnschrift"/>
                        </a:rPr>
                        <a:t>₹2,999</a:t>
                      </a:r>
                    </a:p>
                  </a:txBody>
                  <a:tcPr marL="171450" marR="133350" marT="47625" marB="47625" anchor="ctr">
                    <a:solidFill>
                      <a:srgbClr val="EAF9FF"/>
                    </a:solidFill>
                  </a:tcPr>
                </a:tc>
                <a:tc>
                  <a:txBody>
                    <a:bodyPr/>
                    <a:lstStyle/>
                    <a:p>
                      <a:r>
                        <a:rPr sz="1875" b="1">
                          <a:solidFill>
                            <a:srgbClr val="002E57"/>
                          </a:solidFill>
                          <a:latin typeface="Bahnschrift"/>
                          <a:ea typeface="Bahnschrift"/>
                          <a:cs typeface="Bahnschrift"/>
                        </a:rPr>
                        <a:t>5 active teammates</a:t>
                      </a:r>
                    </a:p>
                  </a:txBody>
                  <a:tcPr marL="171450" marR="133350" marT="47625" marB="47625" anchor="ctr">
                    <a:solidFill>
                      <a:srgbClr val="EAF9FF"/>
                    </a:solidFill>
                  </a:tcPr>
                </a:tc>
              </a:tr>
              <a:tr h="573881">
                <a:tc>
                  <a:txBody>
                    <a:bodyPr/>
                    <a:lstStyle/>
                    <a:p>
                      <a:r>
                        <a:rPr sz="1875">
                          <a:solidFill>
                            <a:srgbClr val="002E57"/>
                          </a:solidFill>
                          <a:latin typeface="Bahnschrift"/>
                          <a:ea typeface="Bahnschrift"/>
                          <a:cs typeface="Bahnschrift"/>
                        </a:rPr>
                        <a:t>Growth</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₹7,999</a:t>
                      </a:r>
                    </a:p>
                  </a:txBody>
                  <a:tcPr marL="171450" marR="133350" marT="47625" marB="47625" anchor="ctr">
                    <a:solidFill>
                      <a:srgbClr val="FFFFFF"/>
                    </a:solidFill>
                  </a:tcPr>
                </a:tc>
                <a:tc>
                  <a:txBody>
                    <a:bodyPr/>
                    <a:lstStyle/>
                    <a:p>
                      <a:r>
                        <a:rPr sz="1875">
                          <a:solidFill>
                            <a:srgbClr val="002E57"/>
                          </a:solidFill>
                          <a:latin typeface="Bahnschrift"/>
                          <a:ea typeface="Bahnschrift"/>
                          <a:cs typeface="Bahnschrift"/>
                        </a:rPr>
                        <a:t>All ready teammates</a:t>
                      </a:r>
                    </a:p>
                  </a:txBody>
                  <a:tcPr marL="171450" marR="133350" marT="47625" marB="47625" anchor="ctr">
                    <a:solidFill>
                      <a:srgbClr val="FFFFFF"/>
                    </a:solidFill>
                  </a:tcPr>
                </a:tc>
              </a:tr>
            </a:tbl>
          </a:graphicData>
        </a:graphic>
      </p:graphicFrame>
      <p:sp>
        <p:nvSpPr>
          <p:cNvPr id="7" name="text">
            <a:extLst xmlns:a="http://schemas.openxmlformats.org/drawingml/2006/main">
              <a:ext uri="{FF2B5EF4-FFF2-40B4-BE49-F238E27FC236}">
                <a16:creationId xmlns:a16="http://schemas.microsoft.com/office/drawing/2014/main" id="{40AA12A4-4275-4D80-88E7-E576F9C0AFDD}"/>
              </a:ext>
            </a:extLst>
          </p:cNvPr>
          <p:cNvSpPr>
            <a:spLocks xmlns:a="http://schemas.openxmlformats.org/drawingml/2006/main" noGrp="1"/>
          </p:cNvSpPr>
          <p:nvPr/>
        </p:nvSpPr>
        <p:spPr>
          <a:xfrm xmlns:a="http://schemas.openxmlformats.org/drawingml/2006/main">
            <a:off x="695325" y="4962525"/>
            <a:ext cx="3276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050" b="1">
                <a:solidFill>
                  <a:srgbClr val="0877CF"/>
                </a:solidFill>
                <a:latin typeface="Bahnschrift"/>
                <a:ea typeface="Bahnschrift"/>
                <a:cs typeface="Bahnschrift"/>
              </a:defRPr>
            </a:pPr>
            <a:r>
              <a:rPr sz="4050" b="1">
                <a:solidFill>
                  <a:srgbClr val="0877CF"/>
                </a:solidFill>
                <a:latin typeface="Bahnschrift"/>
                <a:ea typeface="Bahnschrift"/>
                <a:cs typeface="Bahnschrift"/>
              </a:rPr>
              <a:t>₹900</a:t>
            </a:r>
          </a:p>
        </p:txBody>
      </p:sp>
      <p:sp>
        <p:nvSpPr>
          <p:cNvPr id="8" name="text">
            <a:extLst xmlns:a="http://schemas.openxmlformats.org/drawingml/2006/main">
              <a:ext uri="{FF2B5EF4-FFF2-40B4-BE49-F238E27FC236}">
                <a16:creationId xmlns:a16="http://schemas.microsoft.com/office/drawing/2014/main" id="{1840A7CC-7233-4BC4-A84F-6EFAB46AC0CF}"/>
              </a:ext>
            </a:extLst>
          </p:cNvPr>
          <p:cNvSpPr>
            <a:spLocks xmlns:a="http://schemas.openxmlformats.org/drawingml/2006/main" noGrp="1"/>
          </p:cNvSpPr>
          <p:nvPr/>
        </p:nvSpPr>
        <p:spPr>
          <a:xfrm xmlns:a="http://schemas.openxmlformats.org/drawingml/2006/main">
            <a:off x="695325" y="5619750"/>
            <a:ext cx="4067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delivery-cost ceiling target</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on the ₹2,999 plan</a:t>
            </a:r>
          </a:p>
        </p:txBody>
      </p:sp>
      <p:sp>
        <p:nvSpPr>
          <p:cNvPr id="9" name="text">
            <a:extLst xmlns:a="http://schemas.openxmlformats.org/drawingml/2006/main">
              <a:ext uri="{FF2B5EF4-FFF2-40B4-BE49-F238E27FC236}">
                <a16:creationId xmlns:a16="http://schemas.microsoft.com/office/drawing/2014/main" id="{59C305D3-A1B0-4310-8E9C-D4793C4B217F}"/>
              </a:ext>
            </a:extLst>
          </p:cNvPr>
          <p:cNvSpPr>
            <a:spLocks xmlns:a="http://schemas.openxmlformats.org/drawingml/2006/main" noGrp="1"/>
          </p:cNvSpPr>
          <p:nvPr/>
        </p:nvSpPr>
        <p:spPr>
          <a:xfrm xmlns:a="http://schemas.openxmlformats.org/drawingml/2006/main">
            <a:off x="5543550" y="5029200"/>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02E57"/>
                </a:solidFill>
                <a:latin typeface="Bahnschrift"/>
                <a:ea typeface="Bahnschrift"/>
                <a:cs typeface="Bahnschrift"/>
              </a:defRPr>
            </a:pPr>
            <a:r>
              <a:rPr sz="2175" b="1">
                <a:solidFill>
                  <a:srgbClr val="002E57"/>
                </a:solidFill>
                <a:latin typeface="Bahnschrift"/>
                <a:ea typeface="Bahnschrift"/>
                <a:cs typeface="Bahnschrift"/>
              </a:rPr>
              <a:t>Subscription + approved extra usage</a:t>
            </a:r>
          </a:p>
        </p:txBody>
      </p:sp>
      <p:sp>
        <p:nvSpPr>
          <p:cNvPr id="10" name="text">
            <a:extLst xmlns:a="http://schemas.openxmlformats.org/drawingml/2006/main">
              <a:ext uri="{FF2B5EF4-FFF2-40B4-BE49-F238E27FC236}">
                <a16:creationId xmlns:a16="http://schemas.microsoft.com/office/drawing/2014/main" id="{11F41B30-C312-4568-8924-E8622D33E0B0}"/>
              </a:ext>
            </a:extLst>
          </p:cNvPr>
          <p:cNvSpPr>
            <a:spLocks xmlns:a="http://schemas.openxmlformats.org/drawingml/2006/main" noGrp="1"/>
          </p:cNvSpPr>
          <p:nvPr/>
        </p:nvSpPr>
        <p:spPr>
          <a:xfrm xmlns:a="http://schemas.openxmlformats.org/drawingml/2006/main">
            <a:off x="5543550" y="5524500"/>
            <a:ext cx="595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Optional setup and bounded website packages</a:t>
            </a:r>
          </a:p>
          <a:p xmlns:a="http://schemas.openxmlformats.org/drawingml/2006/main">
            <a:pPr algn="l">
              <a:lnSpc>
                <a:spcPct val="108000"/>
              </a:lnSpc>
              <a:buNone/>
              <a:defRPr sz="1875" b="0">
                <a:solidFill>
                  <a:srgbClr val="526A7C"/>
                </a:solidFill>
                <a:latin typeface="Bahnschrift"/>
                <a:ea typeface="Bahnschrift"/>
                <a:cs typeface="Bahnschrift"/>
              </a:defRPr>
            </a:pPr>
            <a:r>
              <a:rPr sz="1875" b="0">
                <a:solidFill>
                  <a:srgbClr val="526A7C"/>
                </a:solidFill>
                <a:latin typeface="Bahnschrift"/>
                <a:ea typeface="Bahnschrift"/>
                <a:cs typeface="Bahnschrift"/>
              </a:rPr>
              <a:t>add revenue when the merchant needs them.</a:t>
            </a:r>
          </a:p>
        </p:txBody>
      </p:sp>
      <p:sp>
        <p:nvSpPr>
          <p:cNvPr id="11" name="text">
            <a:extLst xmlns:a="http://schemas.openxmlformats.org/drawingml/2006/main">
              <a:ext uri="{FF2B5EF4-FFF2-40B4-BE49-F238E27FC236}">
                <a16:creationId xmlns:a16="http://schemas.microsoft.com/office/drawing/2014/main" id="{4B6E2365-4E63-4EF7-BB71-449D4279CB36}"/>
              </a:ext>
            </a:extLst>
          </p:cNvPr>
          <p:cNvSpPr>
            <a:spLocks xmlns:a="http://schemas.openxmlformats.org/drawingml/2006/main" noGrp="1"/>
          </p:cNvSpPr>
          <p:nvPr/>
        </p:nvSpPr>
        <p:spPr>
          <a:xfrm xmlns:a="http://schemas.openxmlformats.org/drawingml/2006/main">
            <a:off x="666750" y="64579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26A7C"/>
                </a:solidFill>
                <a:latin typeface="Bahnschrift"/>
                <a:ea typeface="Bahnschrift"/>
                <a:cs typeface="Bahnschrift"/>
              </a:defRPr>
            </a:pPr>
            <a:r>
              <a:rPr sz="1350" b="0">
                <a:solidFill>
                  <a:srgbClr val="526A7C"/>
                </a:solidFill>
                <a:latin typeface="Bahnschrift"/>
                <a:ea typeface="Bahnschrift"/>
                <a:cs typeface="Bahnschrift"/>
              </a:rPr>
              <a:t>Proposed pilot prices. Usage caps and five paid pilots will validate economics.</a:t>
            </a:r>
          </a:p>
        </p:txBody>
      </p:sp>
    </p:spTree>
    <p:extLst>
      <p:ext uri="{BB962C8B-B14F-4D97-AF65-F5344CB8AC3E}">
        <p14:creationId xmlns:p14="http://schemas.microsoft.com/office/powerpoint/2010/main" val="1610543332"/>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061B35"/>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8b9c681e8564d06"/>
          <a:stretch xmlns:a="http://schemas.openxmlformats.org/drawingml/2006/main"/>
        </p:blipFill>
        <p:spPr>
          <a:xfrm xmlns:a="http://schemas.openxmlformats.org/drawingml/2006/main">
            <a:off x="666750" y="381000"/>
            <a:ext cx="323850" cy="32385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5E64A1AE-0F40-4567-A2BC-F64078A18410}"/>
              </a:ext>
            </a:extLst>
          </p:cNvPr>
          <p:cNvSpPr>
            <a:spLocks xmlns:a="http://schemas.openxmlformats.org/drawingml/2006/main" noGrp="1"/>
          </p:cNvSpPr>
          <p:nvPr/>
        </p:nvSpPr>
        <p:spPr>
          <a:xfrm xmlns:a="http://schemas.openxmlformats.org/drawingml/2006/main">
            <a:off x="1095375" y="4000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FFFFFF"/>
                </a:solidFill>
                <a:latin typeface="Bahnschrift"/>
                <a:ea typeface="Bahnschrift"/>
                <a:cs typeface="Bahnschrift"/>
              </a:defRPr>
            </a:pPr>
            <a:r>
              <a:rPr sz="1725" b="1">
                <a:solidFill>
                  <a:srgbClr val="FFFFFF"/>
                </a:solidFill>
                <a:latin typeface="Bahnschrift"/>
                <a:ea typeface="Bahnschrift"/>
                <a:cs typeface="Bahnschrift"/>
              </a:rPr>
              <a:t>KaamSet</a:t>
            </a:r>
          </a:p>
        </p:txBody>
      </p:sp>
      <p:sp>
        <p:nvSpPr>
          <p:cNvPr id="3" name="section">
            <a:extLst xmlns:a="http://schemas.openxmlformats.org/drawingml/2006/main">
              <a:ext uri="{FF2B5EF4-FFF2-40B4-BE49-F238E27FC236}">
                <a16:creationId xmlns:a16="http://schemas.microsoft.com/office/drawing/2014/main" id="{24D1AFC7-91BA-43CE-B9CD-5E0F840EC1F0}"/>
              </a:ext>
            </a:extLst>
          </p:cNvPr>
          <p:cNvSpPr>
            <a:spLocks xmlns:a="http://schemas.openxmlformats.org/drawingml/2006/main" noGrp="1"/>
          </p:cNvSpPr>
          <p:nvPr/>
        </p:nvSpPr>
        <p:spPr>
          <a:xfrm xmlns:a="http://schemas.openxmlformats.org/drawingml/2006/main">
            <a:off x="7715250" y="428625"/>
            <a:ext cx="3790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Impact &amp; Benefits</a:t>
            </a:r>
          </a:p>
        </p:txBody>
      </p:sp>
      <p:sp>
        <p:nvSpPr>
          <p:cNvPr id="4" name="slide-title">
            <a:extLst xmlns:a="http://schemas.openxmlformats.org/drawingml/2006/main">
              <a:ext uri="{FF2B5EF4-FFF2-40B4-BE49-F238E27FC236}">
                <a16:creationId xmlns:a16="http://schemas.microsoft.com/office/drawing/2014/main" id="{E74FDEEB-CD33-4D5A-B549-4AD668F245B1}"/>
              </a:ext>
            </a:extLst>
          </p:cNvPr>
          <p:cNvSpPr>
            <a:spLocks xmlns:a="http://schemas.openxmlformats.org/drawingml/2006/main" noGrp="1"/>
          </p:cNvSpPr>
          <p:nvPr/>
        </p:nvSpPr>
        <p:spPr>
          <a:xfrm xmlns:a="http://schemas.openxmlformats.org/drawingml/2006/main">
            <a:off x="666750" y="110490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Useful work. Reviewable results. A product you can try.</a:t>
            </a:r>
          </a:p>
        </p:txBody>
      </p:sp>
      <p:sp>
        <p:nvSpPr>
          <p:cNvPr id="5" name="page">
            <a:extLst xmlns:a="http://schemas.openxmlformats.org/drawingml/2006/main">
              <a:ext uri="{FF2B5EF4-FFF2-40B4-BE49-F238E27FC236}">
                <a16:creationId xmlns:a16="http://schemas.microsoft.com/office/drawing/2014/main" id="{0B31D01F-989D-4A9A-96E3-4CEFD4A54C5C}"/>
              </a:ext>
            </a:extLst>
          </p:cNvPr>
          <p:cNvSpPr>
            <a:spLocks xmlns:a="http://schemas.openxmlformats.org/drawingml/2006/main" noGrp="1"/>
          </p:cNvSpPr>
          <p:nvPr/>
        </p:nvSpPr>
        <p:spPr>
          <a:xfrm xmlns:a="http://schemas.openxmlformats.org/drawingml/2006/main">
            <a:off x="10972800" y="63722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09</a:t>
            </a:r>
          </a:p>
        </p:txBody>
      </p:sp>
      <p:sp>
        <p:nvSpPr>
          <p:cNvPr id="6" name="text">
            <a:extLst xmlns:a="http://schemas.openxmlformats.org/drawingml/2006/main">
              <a:ext uri="{FF2B5EF4-FFF2-40B4-BE49-F238E27FC236}">
                <a16:creationId xmlns:a16="http://schemas.microsoft.com/office/drawing/2014/main" id="{315A241C-838E-43CB-A418-FD95551C731D}"/>
              </a:ext>
            </a:extLst>
          </p:cNvPr>
          <p:cNvSpPr>
            <a:spLocks xmlns:a="http://schemas.openxmlformats.org/drawingml/2006/main" noGrp="1"/>
          </p:cNvSpPr>
          <p:nvPr/>
        </p:nvSpPr>
        <p:spPr>
          <a:xfrm xmlns:a="http://schemas.openxmlformats.org/drawingml/2006/main">
            <a:off x="666750" y="2276475"/>
            <a:ext cx="647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400" b="1">
                <a:solidFill>
                  <a:srgbClr val="00BAF2"/>
                </a:solidFill>
                <a:latin typeface="Bahnschrift"/>
                <a:ea typeface="Bahnschrift"/>
                <a:cs typeface="Bahnschrift"/>
              </a:defRPr>
            </a:pPr>
            <a:r>
              <a:rPr sz="5400" b="1">
                <a:solidFill>
                  <a:srgbClr val="00BAF2"/>
                </a:solidFill>
                <a:latin typeface="Bahnschrift"/>
                <a:ea typeface="Bahnschrift"/>
                <a:cs typeface="Bahnschrift"/>
              </a:rPr>
              <a:t>Try the proof</a:t>
            </a:r>
          </a:p>
        </p:txBody>
      </p:sp>
      <p:sp>
        <p:nvSpPr>
          <p:cNvPr id="7" name="text">
            <a:extLst xmlns:a="http://schemas.openxmlformats.org/drawingml/2006/main">
              <a:ext uri="{FF2B5EF4-FFF2-40B4-BE49-F238E27FC236}">
                <a16:creationId xmlns:a16="http://schemas.microsoft.com/office/drawing/2014/main" id="{75DEB973-186F-466E-9D32-8C9987226BBD}"/>
              </a:ext>
            </a:extLst>
          </p:cNvPr>
          <p:cNvSpPr>
            <a:spLocks xmlns:a="http://schemas.openxmlformats.org/drawingml/2006/main" noGrp="1"/>
          </p:cNvSpPr>
          <p:nvPr/>
        </p:nvSpPr>
        <p:spPr>
          <a:xfrm xmlns:a="http://schemas.openxmlformats.org/drawingml/2006/main">
            <a:off x="695325" y="3209925"/>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B8D5E8"/>
                </a:solidFill>
                <a:latin typeface="Bahnschrift"/>
                <a:ea typeface="Bahnschrift"/>
                <a:cs typeface="Bahnschrift"/>
              </a:defRPr>
            </a:pPr>
            <a:r>
              <a:rPr sz="2025" b="0">
                <a:solidFill>
                  <a:srgbClr val="B8D5E8"/>
                </a:solidFill>
                <a:latin typeface="Bahnschrift"/>
                <a:ea typeface="Bahnschrift"/>
                <a:cs typeface="Bahnschrift"/>
              </a:rPr>
              <a:t>A prepared store. Your own isolated workspace.</a:t>
            </a:r>
          </a:p>
        </p:txBody>
      </p:sp>
      <p:sp>
        <p:nvSpPr>
          <p:cNvPr id="8" name="text">
            <a:extLst xmlns:a="http://schemas.openxmlformats.org/drawingml/2006/main">
              <a:ext uri="{FF2B5EF4-FFF2-40B4-BE49-F238E27FC236}">
                <a16:creationId xmlns:a16="http://schemas.microsoft.com/office/drawing/2014/main" id="{1549FFB0-7F5B-4F84-85D5-FB8BB6C6F07D}"/>
              </a:ext>
            </a:extLst>
          </p:cNvPr>
          <p:cNvSpPr>
            <a:spLocks xmlns:a="http://schemas.openxmlformats.org/drawingml/2006/main" noGrp="1"/>
          </p:cNvSpPr>
          <p:nvPr/>
        </p:nvSpPr>
        <p:spPr>
          <a:xfrm xmlns:a="http://schemas.openxmlformats.org/drawingml/2006/main">
            <a:off x="695325" y="3857625"/>
            <a:ext cx="685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FFFFFF"/>
                </a:solidFill>
                <a:latin typeface="Bahnschrift"/>
                <a:ea typeface="Bahnschrift"/>
                <a:cs typeface="Bahnschrift"/>
              </a:defRPr>
            </a:pPr>
            <a:r>
              <a:rPr sz="2325" b="1">
                <a:solidFill>
                  <a:srgbClr val="FFFFFF"/>
                </a:solidFill>
                <a:latin typeface="Bahnschrift"/>
                <a:ea typeface="Bahnschrift"/>
                <a:cs typeface="Bahnschrift"/>
              </a:rPr>
              <a:t>Less repeated owner work</a:t>
            </a:r>
          </a:p>
        </p:txBody>
      </p:sp>
      <p:sp>
        <p:nvSpPr>
          <p:cNvPr id="9" name="text">
            <a:extLst xmlns:a="http://schemas.openxmlformats.org/drawingml/2006/main">
              <a:ext uri="{FF2B5EF4-FFF2-40B4-BE49-F238E27FC236}">
                <a16:creationId xmlns:a16="http://schemas.microsoft.com/office/drawing/2014/main" id="{27857099-A041-4765-9FBB-9FE3DEAB385F}"/>
              </a:ext>
            </a:extLst>
          </p:cNvPr>
          <p:cNvSpPr>
            <a:spLocks xmlns:a="http://schemas.openxmlformats.org/drawingml/2006/main" noGrp="1"/>
          </p:cNvSpPr>
          <p:nvPr/>
        </p:nvSpPr>
        <p:spPr>
          <a:xfrm xmlns:a="http://schemas.openxmlformats.org/drawingml/2006/main">
            <a:off x="695325" y="4305300"/>
            <a:ext cx="676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B8D5E8"/>
                </a:solidFill>
                <a:latin typeface="Bahnschrift"/>
                <a:ea typeface="Bahnschrift"/>
                <a:cs typeface="Bahnschrift"/>
              </a:defRPr>
            </a:pPr>
            <a:r>
              <a:rPr sz="2175" b="0">
                <a:solidFill>
                  <a:srgbClr val="B8D5E8"/>
                </a:solidFill>
                <a:latin typeface="Bahnschrift"/>
                <a:ea typeface="Bahnschrift"/>
                <a:cs typeface="Bahnschrift"/>
              </a:rPr>
              <a:t>Collections, replies, records and a website—</a:t>
            </a:r>
          </a:p>
          <a:p xmlns:a="http://schemas.openxmlformats.org/drawingml/2006/main">
            <a:pPr algn="l">
              <a:lnSpc>
                <a:spcPct val="108000"/>
              </a:lnSpc>
              <a:buNone/>
              <a:defRPr sz="2175" b="0">
                <a:solidFill>
                  <a:srgbClr val="B8D5E8"/>
                </a:solidFill>
                <a:latin typeface="Bahnschrift"/>
                <a:ea typeface="Bahnschrift"/>
                <a:cs typeface="Bahnschrift"/>
              </a:defRPr>
            </a:pPr>
            <a:r>
              <a:rPr sz="2175" b="0">
                <a:solidFill>
                  <a:srgbClr val="B8D5E8"/>
                </a:solidFill>
                <a:latin typeface="Bahnschrift"/>
                <a:ea typeface="Bahnschrift"/>
                <a:cs typeface="Bahnschrift"/>
              </a:rPr>
              <a:t>with approvals and sources the owner can review.</a:t>
            </a:r>
          </a:p>
        </p:txBody>
      </p:sp>
      <p:sp>
        <p:nvSpPr>
          <p:cNvPr id="10" name="text">
            <a:extLst xmlns:a="http://schemas.openxmlformats.org/drawingml/2006/main">
              <a:ext uri="{FF2B5EF4-FFF2-40B4-BE49-F238E27FC236}">
                <a16:creationId xmlns:a16="http://schemas.microsoft.com/office/drawing/2014/main" id="{A2A2F836-8F84-49FA-9193-3E7E245B1CC1}"/>
              </a:ext>
            </a:extLst>
          </p:cNvPr>
          <p:cNvSpPr>
            <a:spLocks xmlns:a="http://schemas.openxmlformats.org/drawingml/2006/main" noGrp="1"/>
          </p:cNvSpPr>
          <p:nvPr/>
        </p:nvSpPr>
        <p:spPr>
          <a:xfrm xmlns:a="http://schemas.openxmlformats.org/drawingml/2006/main">
            <a:off x="695325" y="5257800"/>
            <a:ext cx="676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2,699 unit tests passed from the clean source bundle.</a:t>
            </a:r>
          </a:p>
          <a:p xmlns:a="http://schemas.openxmlformats.org/drawingml/2006/main">
            <a:pPr algn="l">
              <a:lnSpc>
                <a:spcPct val="108000"/>
              </a:lnSpc>
              <a:buNone/>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Cloud completion and published-site evidence included.</a:t>
            </a:r>
          </a:p>
        </p:txBody>
      </p:sp>
      <p:pic>
        <p:nvPicPr>
          <p:cNvPr id="25" name=""/>
          <a:hlinkClick xmlns:a="http://schemas.openxmlformats.org/drawingml/2006/main" xmlns:r="http://schemas.openxmlformats.org/officeDocument/2006/relationships" r:id="rIdKaamSetDemo"/>
          <p:cNvPicPr>
            <a:picLocks xmlns:a="http://schemas.openxmlformats.org/drawingml/2006/main" noChangeAspect="1"/>
          </p:cNvPicPr>
          <p:nvPr/>
        </p:nvPicPr>
        <p:blipFill>
          <a:blip xmlns:r="http://schemas.openxmlformats.org/officeDocument/2006/relationships" xmlns:a="http://schemas.openxmlformats.org/drawingml/2006/main" r:embed="R378ffa51657740e8"/>
          <a:stretch xmlns:a="http://schemas.openxmlformats.org/drawingml/2006/main"/>
        </p:blipFill>
        <p:spPr>
          <a:xfrm xmlns:a="http://schemas.openxmlformats.org/drawingml/2006/main">
            <a:off x="8391525" y="2343150"/>
            <a:ext cx="2705100" cy="2705100"/>
          </a:xfrm>
          <a:prstGeom xmlns:a="http://schemas.openxmlformats.org/drawingml/2006/main" prst="rect">
            <a:avLst/>
          </a:prstGeom>
        </p:spPr>
      </p:pic>
      <p:sp>
        <p:nvSpPr>
          <p:cNvPr id="12" name="demo-label">
            <a:extLst xmlns:a="http://schemas.openxmlformats.org/drawingml/2006/main">
              <a:ext uri="{FF2B5EF4-FFF2-40B4-BE49-F238E27FC236}">
                <a16:creationId xmlns:a16="http://schemas.microsoft.com/office/drawing/2014/main" id="{5FBB4FE7-837E-4B20-AC7D-0C3DEA453123}"/>
              </a:ext>
            </a:extLst>
          </p:cNvPr>
          <p:cNvSpPr>
            <a:spLocks xmlns:a="http://schemas.openxmlformats.org/drawingml/2006/main" noGrp="1"/>
          </p:cNvSpPr>
          <p:nvPr/>
        </p:nvSpPr>
        <p:spPr>
          <a:xfrm xmlns:a="http://schemas.openxmlformats.org/drawingml/2006/main">
            <a:off x="7981950" y="526732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Open the merchant demo</a:t>
            </a:r>
          </a:p>
        </p:txBody>
      </p:sp>
      <p:sp>
        <p:nvSpPr>
          <p:cNvPr id="13" name="demo-url">
            <a:hlinkClick xmlns:a="http://schemas.openxmlformats.org/drawingml/2006/main" xmlns:r="http://schemas.openxmlformats.org/officeDocument/2006/relationships" r:id="rIdKaamSetDemo"/>
            <a:extLst xmlns:a="http://schemas.openxmlformats.org/drawingml/2006/main">
              <a:ext uri="{FF2B5EF4-FFF2-40B4-BE49-F238E27FC236}">
                <a16:creationId xmlns:a16="http://schemas.microsoft.com/office/drawing/2014/main" id="{868E2436-4266-4A28-8B47-11EEC3FBE5D4}"/>
              </a:ext>
            </a:extLst>
          </p:cNvPr>
          <p:cNvSpPr>
            <a:spLocks xmlns:a="http://schemas.openxmlformats.org/drawingml/2006/main" noGrp="1"/>
          </p:cNvSpPr>
          <p:nvPr/>
        </p:nvSpPr>
        <p:spPr>
          <a:xfrm xmlns:a="http://schemas.openxmlformats.org/drawingml/2006/main">
            <a:off x="7648575" y="5724525"/>
            <a:ext cx="3971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500" b="0">
                <a:solidFill>
                  <a:srgbClr val="00BAF2"/>
                </a:solidFill>
                <a:latin typeface="Bahnschrift"/>
                <a:ea typeface="Bahnschrift"/>
                <a:cs typeface="Bahnschrift"/>
              </a:defRPr>
            </a:pPr>
            <a:r>
              <a:rPr sz="1500" b="0">
                <a:solidFill>
                  <a:srgbClr val="00BAF2"/>
                </a:solidFill>
                <a:latin typeface="Bahnschrift"/>
                <a:ea typeface="Bahnschrift"/>
                <a:cs typeface="Bahnschrift"/>
              </a:rPr>
              <a:t>kaamset-web.vercel.app/merchant-lab</a:t>
            </a:r>
          </a:p>
        </p:txBody>
      </p:sp>
      <p:sp>
        <p:nvSpPr>
          <p:cNvPr id="14" name="text">
            <a:extLst xmlns:a="http://schemas.openxmlformats.org/drawingml/2006/main">
              <a:ext uri="{FF2B5EF4-FFF2-40B4-BE49-F238E27FC236}">
                <a16:creationId xmlns:a16="http://schemas.microsoft.com/office/drawing/2014/main" id="{CBA2696C-6515-4487-B075-6929E7D0ABAC}"/>
              </a:ext>
            </a:extLst>
          </p:cNvPr>
          <p:cNvSpPr>
            <a:spLocks xmlns:a="http://schemas.openxmlformats.org/drawingml/2006/main" noGrp="1"/>
          </p:cNvSpPr>
          <p:nvPr/>
        </p:nvSpPr>
        <p:spPr>
          <a:xfrm xmlns:a="http://schemas.openxmlformats.org/drawingml/2006/main">
            <a:off x="695325" y="6315075"/>
            <a:ext cx="962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B8D5E8"/>
                </a:solidFill>
                <a:latin typeface="Bahnschrift"/>
                <a:ea typeface="Bahnschrift"/>
                <a:cs typeface="Bahnschrift"/>
              </a:defRPr>
            </a:pPr>
            <a:r>
              <a:rPr sz="1350" b="0">
                <a:solidFill>
                  <a:srgbClr val="B8D5E8"/>
                </a:solidFill>
                <a:latin typeface="Bahnschrift"/>
                <a:ea typeface="Bahnschrift"/>
                <a:cs typeface="Bahnschrift"/>
              </a:rPr>
              <a:t>Proposed Paytm for Business extension. Merchant demo data is fictional.</a:t>
            </a:r>
          </a:p>
        </p:txBody>
      </p:sp>
    </p:spTree>
    <p:extLst>
      <p:ext uri="{BB962C8B-B14F-4D97-AF65-F5344CB8AC3E}">
        <p14:creationId xmlns:p14="http://schemas.microsoft.com/office/powerpoint/2010/main" val="253949798"/>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2026-10-05T12:24:01.9310000Z</dcterms:created>
  <dcterms:modified xsi:type="dcterms:W3CDTF">2026-10-05T12:24:01.9310000Z</dcterms:modified>
</coreProperties>
</file>